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9"/>
        </a:solidFill>
      </p:bgPr>
    </p:bg>
    <p:spTree>
      <p:nvGrpSpPr>
        <p:cNvPr id="1" name=""/>
        <p:cNvGrpSpPr/>
        <p:nvPr/>
      </p:nvGrpSpPr>
      <p:grpSpPr>
        <a:xfrm>
          <a:off x="0" y="0"/>
          <a:ext cx="0" cy="0"/>
          <a:chOff x="0" y="0"/>
          <a:chExt cx="0" cy="0"/>
        </a:xfrm>
      </p:grpSpPr>
      <p:sp>
        <p:nvSpPr>
          <p:cNvPr id="2" name="Shape 0"/>
          <p:cNvSpPr/>
          <p:nvPr/>
        </p:nvSpPr>
        <p:spPr>
          <a:xfrm>
            <a:off x="0" y="0"/>
            <a:ext cx="12161520" cy="1234440"/>
          </a:xfrm>
          <a:prstGeom prst="rect">
            <a:avLst/>
          </a:prstGeom>
          <a:solidFill>
            <a:srgbClr val="081420"/>
          </a:solidFill>
          <a:ln/>
        </p:spPr>
      </p:sp>
      <p:sp>
        <p:nvSpPr>
          <p:cNvPr id="3" name="Text 1"/>
          <p:cNvSpPr/>
          <p:nvPr/>
        </p:nvSpPr>
        <p:spPr>
          <a:xfrm>
            <a:off x="548640" y="384048"/>
            <a:ext cx="9144000" cy="457200"/>
          </a:xfrm>
          <a:prstGeom prst="rect">
            <a:avLst/>
          </a:prstGeom>
          <a:noFill/>
          <a:ln/>
        </p:spPr>
        <p:txBody>
          <a:bodyPr wrap="square" rtlCol="0" anchor="ctr"/>
          <a:lstStyle/>
          <a:p>
            <a:pPr indent="0" marL="0">
              <a:buNone/>
            </a:pPr>
            <a:r>
              <a:rPr lang="en-US" sz="1300" b="1" spc="200" kern="0" dirty="0">
                <a:solidFill>
                  <a:srgbClr val="E8A33D"/>
                </a:solidFill>
                <a:latin typeface="Arial" pitchFamily="34" charset="0"/>
                <a:ea typeface="Arial" pitchFamily="34" charset="-122"/>
                <a:cs typeface="Arial" pitchFamily="34" charset="-120"/>
              </a:rPr>
              <a:t>JOINT SERVICES TRAINING INSTITUTE - CYBER</a:t>
            </a:r>
            <a:endParaRPr lang="en-US" sz="1300" dirty="0"/>
          </a:p>
        </p:txBody>
      </p:sp>
      <p:sp>
        <p:nvSpPr>
          <p:cNvPr id="4" name="Text 2"/>
          <p:cNvSpPr/>
          <p:nvPr/>
        </p:nvSpPr>
        <p:spPr>
          <a:xfrm>
            <a:off x="548640" y="685800"/>
            <a:ext cx="9144000" cy="365760"/>
          </a:xfrm>
          <a:prstGeom prst="rect">
            <a:avLst/>
          </a:prstGeom>
          <a:noFill/>
          <a:ln/>
        </p:spPr>
        <p:txBody>
          <a:bodyPr wrap="square" rtlCol="0" anchor="ctr"/>
          <a:lstStyle/>
          <a:p>
            <a:pPr indent="0" marL="0">
              <a:buNone/>
            </a:pPr>
            <a:r>
              <a:rPr lang="en-US" sz="1100" spc="100" kern="0" dirty="0">
                <a:solidFill>
                  <a:srgbClr val="C9D3DE"/>
                </a:solidFill>
                <a:latin typeface="Arial" pitchFamily="34" charset="0"/>
                <a:ea typeface="Arial" pitchFamily="34" charset="-122"/>
                <a:cs typeface="Arial" pitchFamily="34" charset="-120"/>
              </a:rPr>
              <a:t>IW/HAK/15.3  ·  JOINT ADVANCED CYBER SECURITY COURSE</a:t>
            </a:r>
            <a:endParaRPr lang="en-US" sz="1100" dirty="0"/>
          </a:p>
        </p:txBody>
      </p:sp>
      <p:sp>
        <p:nvSpPr>
          <p:cNvPr id="5" name="Text 3"/>
          <p:cNvSpPr/>
          <p:nvPr/>
        </p:nvSpPr>
        <p:spPr>
          <a:xfrm>
            <a:off x="548640" y="2286000"/>
            <a:ext cx="10972800" cy="1188720"/>
          </a:xfrm>
          <a:prstGeom prst="rect">
            <a:avLst/>
          </a:prstGeom>
          <a:noFill/>
          <a:ln/>
        </p:spPr>
        <p:txBody>
          <a:bodyPr wrap="square" rtlCol="0" anchor="ctr"/>
          <a:lstStyle/>
          <a:p>
            <a:pPr indent="0" marL="0">
              <a:buNone/>
            </a:pPr>
            <a:r>
              <a:rPr lang="en-US" sz="6800" b="1" dirty="0">
                <a:solidFill>
                  <a:srgbClr val="FFFFFF"/>
                </a:solidFill>
                <a:latin typeface="Arial" pitchFamily="34" charset="0"/>
                <a:ea typeface="Arial" pitchFamily="34" charset="-122"/>
                <a:cs typeface="Arial" pitchFamily="34" charset="-120"/>
              </a:rPr>
              <a:t>OSINT</a:t>
            </a:r>
            <a:endParaRPr lang="en-US" sz="6800" dirty="0"/>
          </a:p>
        </p:txBody>
      </p:sp>
      <p:sp>
        <p:nvSpPr>
          <p:cNvPr id="6" name="Text 4"/>
          <p:cNvSpPr/>
          <p:nvPr/>
        </p:nvSpPr>
        <p:spPr>
          <a:xfrm>
            <a:off x="548640" y="3246120"/>
            <a:ext cx="10972800" cy="822960"/>
          </a:xfrm>
          <a:prstGeom prst="rect">
            <a:avLst/>
          </a:prstGeom>
          <a:noFill/>
          <a:ln/>
        </p:spPr>
        <p:txBody>
          <a:bodyPr wrap="square" rtlCol="0" anchor="ctr"/>
          <a:lstStyle/>
          <a:p>
            <a:pPr indent="0" marL="0">
              <a:buNone/>
            </a:pPr>
            <a:r>
              <a:rPr lang="en-US" sz="3400" b="1" dirty="0">
                <a:solidFill>
                  <a:srgbClr val="3B8FC4"/>
                </a:solidFill>
                <a:latin typeface="Arial" pitchFamily="34" charset="0"/>
                <a:ea typeface="Arial" pitchFamily="34" charset="-122"/>
                <a:cs typeface="Arial" pitchFamily="34" charset="-120"/>
              </a:rPr>
              <a:t>&amp; SOCIAL ENGINEERING</a:t>
            </a:r>
            <a:endParaRPr lang="en-US" sz="3400" dirty="0"/>
          </a:p>
        </p:txBody>
      </p:sp>
      <p:sp>
        <p:nvSpPr>
          <p:cNvPr id="7" name="Text 5"/>
          <p:cNvSpPr/>
          <p:nvPr/>
        </p:nvSpPr>
        <p:spPr>
          <a:xfrm>
            <a:off x="548640" y="4160520"/>
            <a:ext cx="9144000" cy="457200"/>
          </a:xfrm>
          <a:prstGeom prst="rect">
            <a:avLst/>
          </a:prstGeom>
          <a:noFill/>
          <a:ln/>
        </p:spPr>
        <p:txBody>
          <a:bodyPr wrap="square" rtlCol="0" anchor="ctr"/>
          <a:lstStyle/>
          <a:p>
            <a:pPr indent="0" marL="0">
              <a:buNone/>
            </a:pPr>
            <a:r>
              <a:rPr lang="en-US" sz="1500" i="1" dirty="0">
                <a:solidFill>
                  <a:srgbClr val="8FA0B3"/>
                </a:solidFill>
                <a:latin typeface="Arial" pitchFamily="34" charset="0"/>
                <a:ea typeface="Arial" pitchFamily="34" charset="-122"/>
                <a:cs typeface="Arial" pitchFamily="34" charset="-120"/>
              </a:rPr>
              <a:t>An interactive session: concept → live demo → air-gapped practice</a:t>
            </a:r>
            <a:endParaRPr lang="en-US" sz="1500" dirty="0"/>
          </a:p>
        </p:txBody>
      </p:sp>
      <p:sp>
        <p:nvSpPr>
          <p:cNvPr id="8" name="Shape 6"/>
          <p:cNvSpPr/>
          <p:nvPr/>
        </p:nvSpPr>
        <p:spPr>
          <a:xfrm>
            <a:off x="548640" y="4937760"/>
            <a:ext cx="4114800" cy="0"/>
          </a:xfrm>
          <a:prstGeom prst="line">
            <a:avLst/>
          </a:prstGeom>
          <a:noFill/>
          <a:ln w="25400">
            <a:solidFill>
              <a:srgbClr val="E8A33D"/>
            </a:solidFill>
            <a:prstDash val="solid"/>
          </a:ln>
        </p:spPr>
      </p:sp>
      <p:sp>
        <p:nvSpPr>
          <p:cNvPr id="9" name="Text 7"/>
          <p:cNvSpPr/>
          <p:nvPr/>
        </p:nvSpPr>
        <p:spPr>
          <a:xfrm>
            <a:off x="548640" y="5074920"/>
            <a:ext cx="54864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Lt Col Dheeraj Bharti</a:t>
            </a:r>
            <a:endParaRPr lang="en-US" sz="1400" dirty="0"/>
          </a:p>
        </p:txBody>
      </p:sp>
      <p:sp>
        <p:nvSpPr>
          <p:cNvPr id="10" name="Text 8"/>
          <p:cNvSpPr/>
          <p:nvPr/>
        </p:nvSpPr>
        <p:spPr>
          <a:xfrm>
            <a:off x="548640" y="5394960"/>
            <a:ext cx="5486400" cy="320040"/>
          </a:xfrm>
          <a:prstGeom prst="rect">
            <a:avLst/>
          </a:prstGeom>
          <a:noFill/>
          <a:ln/>
        </p:spPr>
        <p:txBody>
          <a:bodyPr wrap="square" rtlCol="0" anchor="ctr"/>
          <a:lstStyle/>
          <a:p>
            <a:pPr indent="0" marL="0">
              <a:buNone/>
            </a:pPr>
            <a:r>
              <a:rPr lang="en-US" sz="1100" dirty="0">
                <a:solidFill>
                  <a:srgbClr val="C9D3DE"/>
                </a:solidFill>
                <a:latin typeface="Arial" pitchFamily="34" charset="0"/>
                <a:ea typeface="Arial" pitchFamily="34" charset="-122"/>
                <a:cs typeface="Arial" pitchFamily="34" charset="-120"/>
              </a:rPr>
              <a:t>Day of Delivery · Hacking Methodology &amp; Pentesting</a:t>
            </a:r>
            <a:endParaRPr lang="en-US" sz="1100" dirty="0"/>
          </a:p>
        </p:txBody>
      </p:sp>
      <p:sp>
        <p:nvSpPr>
          <p:cNvPr id="11" name="Shape 9"/>
          <p:cNvSpPr/>
          <p:nvPr/>
        </p:nvSpPr>
        <p:spPr>
          <a:xfrm>
            <a:off x="0" y="6473952"/>
            <a:ext cx="12161520" cy="384048"/>
          </a:xfrm>
          <a:prstGeom prst="rect">
            <a:avLst/>
          </a:prstGeom>
          <a:solidFill>
            <a:srgbClr val="2E2148"/>
          </a:solidFill>
          <a:ln/>
        </p:spPr>
      </p:sp>
      <p:sp>
        <p:nvSpPr>
          <p:cNvPr id="12" name="Text 10"/>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Session Roadmap</a:t>
            </a:r>
            <a:endParaRPr lang="en-US" sz="2800" dirty="0"/>
          </a:p>
        </p:txBody>
      </p:sp>
      <p:sp>
        <p:nvSpPr>
          <p:cNvPr id="4" name="Shape 2"/>
          <p:cNvSpPr/>
          <p:nvPr/>
        </p:nvSpPr>
        <p:spPr>
          <a:xfrm>
            <a:off x="10195560" y="384048"/>
            <a:ext cx="1600200" cy="384048"/>
          </a:xfrm>
          <a:prstGeom prst="roundRect">
            <a:avLst>
              <a:gd name="adj" fmla="val 19048"/>
            </a:avLst>
          </a:prstGeom>
          <a:solidFill>
            <a:srgbClr val="3B8FC4"/>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OVERVIEW</a:t>
            </a:r>
            <a:endParaRPr lang="en-US" sz="1200" dirty="0"/>
          </a:p>
        </p:txBody>
      </p:sp>
      <p:sp>
        <p:nvSpPr>
          <p:cNvPr id="6" name="Shape 4"/>
          <p:cNvSpPr/>
          <p:nvPr/>
        </p:nvSpPr>
        <p:spPr>
          <a:xfrm>
            <a:off x="457200" y="1417320"/>
            <a:ext cx="11247120" cy="493776"/>
          </a:xfrm>
          <a:prstGeom prst="rect">
            <a:avLst/>
          </a:prstGeom>
          <a:solidFill>
            <a:srgbClr val="0F2A45"/>
          </a:solidFill>
          <a:ln/>
        </p:spPr>
      </p:sp>
      <p:sp>
        <p:nvSpPr>
          <p:cNvPr id="7" name="Text 5"/>
          <p:cNvSpPr/>
          <p:nvPr/>
        </p:nvSpPr>
        <p:spPr>
          <a:xfrm>
            <a:off x="594360" y="1417320"/>
            <a:ext cx="457200" cy="493776"/>
          </a:xfrm>
          <a:prstGeom prst="rect">
            <a:avLst/>
          </a:prstGeom>
          <a:noFill/>
          <a:ln/>
        </p:spPr>
        <p:txBody>
          <a:bodyPr wrap="square" rtlCol="0" anchor="ctr"/>
          <a:lstStyle/>
          <a:p>
            <a:pPr indent="0" marL="0">
              <a:buNone/>
            </a:pPr>
            <a:r>
              <a:rPr lang="en-US" sz="1600" b="1" dirty="0">
                <a:solidFill>
                  <a:srgbClr val="8FA0B3"/>
                </a:solidFill>
                <a:latin typeface="Arial" pitchFamily="34" charset="0"/>
                <a:ea typeface="Arial" pitchFamily="34" charset="-122"/>
                <a:cs typeface="Arial" pitchFamily="34" charset="-120"/>
              </a:rPr>
              <a:t>1</a:t>
            </a:r>
            <a:endParaRPr lang="en-US" sz="1600" dirty="0"/>
          </a:p>
        </p:txBody>
      </p:sp>
      <p:sp>
        <p:nvSpPr>
          <p:cNvPr id="8" name="Text 6"/>
          <p:cNvSpPr/>
          <p:nvPr/>
        </p:nvSpPr>
        <p:spPr>
          <a:xfrm>
            <a:off x="1188720" y="1417320"/>
            <a:ext cx="3657600" cy="493776"/>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Foundations</a:t>
            </a:r>
            <a:endParaRPr lang="en-US" sz="1400" dirty="0"/>
          </a:p>
        </p:txBody>
      </p:sp>
      <p:sp>
        <p:nvSpPr>
          <p:cNvPr id="9" name="Shape 7"/>
          <p:cNvSpPr/>
          <p:nvPr/>
        </p:nvSpPr>
        <p:spPr>
          <a:xfrm>
            <a:off x="5029200" y="1499616"/>
            <a:ext cx="1737360" cy="329184"/>
          </a:xfrm>
          <a:prstGeom prst="roundRect">
            <a:avLst>
              <a:gd name="adj" fmla="val 16667"/>
            </a:avLst>
          </a:prstGeom>
          <a:solidFill>
            <a:srgbClr val="3B8FC4"/>
          </a:solidFill>
          <a:ln/>
        </p:spPr>
      </p:sp>
      <p:sp>
        <p:nvSpPr>
          <p:cNvPr id="10" name="Text 8"/>
          <p:cNvSpPr/>
          <p:nvPr/>
        </p:nvSpPr>
        <p:spPr>
          <a:xfrm>
            <a:off x="5029200" y="1499616"/>
            <a:ext cx="1737360" cy="329184"/>
          </a:xfrm>
          <a:prstGeom prst="rect">
            <a:avLst/>
          </a:prstGeom>
          <a:noFill/>
          <a:ln/>
        </p:spPr>
        <p:txBody>
          <a:bodyPr wrap="square" rtlCol="0" anchor="ctr"/>
          <a:lstStyle/>
          <a:p>
            <a:pPr algn="ctr" indent="0" marL="0">
              <a:buNone/>
            </a:pPr>
            <a:r>
              <a:rPr lang="en-US" sz="1050" b="1" dirty="0">
                <a:solidFill>
                  <a:srgbClr val="1B1B2F"/>
                </a:solidFill>
                <a:latin typeface="Arial" pitchFamily="34" charset="0"/>
                <a:ea typeface="Arial" pitchFamily="34" charset="-122"/>
                <a:cs typeface="Arial" pitchFamily="34" charset="-120"/>
              </a:rPr>
              <a:t>Concept</a:t>
            </a:r>
            <a:endParaRPr lang="en-US" sz="1050" dirty="0"/>
          </a:p>
        </p:txBody>
      </p:sp>
      <p:sp>
        <p:nvSpPr>
          <p:cNvPr id="11" name="Text 9"/>
          <p:cNvSpPr/>
          <p:nvPr/>
        </p:nvSpPr>
        <p:spPr>
          <a:xfrm>
            <a:off x="7040880" y="1417320"/>
            <a:ext cx="4572000" cy="493776"/>
          </a:xfrm>
          <a:prstGeom prst="rect">
            <a:avLst/>
          </a:prstGeom>
          <a:noFill/>
          <a:ln/>
        </p:spPr>
        <p:txBody>
          <a:bodyPr wrap="square" rtlCol="0" anchor="ctr"/>
          <a:lstStyle/>
          <a:p>
            <a:pPr indent="0" marL="0">
              <a:buNone/>
            </a:pPr>
            <a:r>
              <a:rPr lang="en-US" sz="1200" dirty="0">
                <a:solidFill>
                  <a:srgbClr val="C9D3DE"/>
                </a:solidFill>
                <a:latin typeface="Arial" pitchFamily="34" charset="0"/>
                <a:ea typeface="Arial" pitchFamily="34" charset="-122"/>
                <a:cs typeface="Arial" pitchFamily="34" charset="-120"/>
              </a:rPr>
              <a:t>—</a:t>
            </a:r>
            <a:endParaRPr lang="en-US" sz="1200" dirty="0"/>
          </a:p>
        </p:txBody>
      </p:sp>
      <p:sp>
        <p:nvSpPr>
          <p:cNvPr id="12" name="Shape 10"/>
          <p:cNvSpPr/>
          <p:nvPr/>
        </p:nvSpPr>
        <p:spPr>
          <a:xfrm>
            <a:off x="457200" y="1984248"/>
            <a:ext cx="11247120" cy="493776"/>
          </a:xfrm>
          <a:prstGeom prst="rect">
            <a:avLst/>
          </a:prstGeom>
          <a:solidFill>
            <a:srgbClr val="0F2A45"/>
          </a:solidFill>
          <a:ln/>
        </p:spPr>
      </p:sp>
      <p:sp>
        <p:nvSpPr>
          <p:cNvPr id="13" name="Text 11"/>
          <p:cNvSpPr/>
          <p:nvPr/>
        </p:nvSpPr>
        <p:spPr>
          <a:xfrm>
            <a:off x="594360" y="1984248"/>
            <a:ext cx="457200" cy="493776"/>
          </a:xfrm>
          <a:prstGeom prst="rect">
            <a:avLst/>
          </a:prstGeom>
          <a:noFill/>
          <a:ln/>
        </p:spPr>
        <p:txBody>
          <a:bodyPr wrap="square" rtlCol="0" anchor="ctr"/>
          <a:lstStyle/>
          <a:p>
            <a:pPr indent="0" marL="0">
              <a:buNone/>
            </a:pPr>
            <a:r>
              <a:rPr lang="en-US" sz="1600" b="1" dirty="0">
                <a:solidFill>
                  <a:srgbClr val="8FA0B3"/>
                </a:solidFill>
                <a:latin typeface="Arial" pitchFamily="34" charset="0"/>
                <a:ea typeface="Arial" pitchFamily="34" charset="-122"/>
                <a:cs typeface="Arial" pitchFamily="34" charset="-120"/>
              </a:rPr>
              <a:t>2</a:t>
            </a:r>
            <a:endParaRPr lang="en-US" sz="1600" dirty="0"/>
          </a:p>
        </p:txBody>
      </p:sp>
      <p:sp>
        <p:nvSpPr>
          <p:cNvPr id="14" name="Text 12"/>
          <p:cNvSpPr/>
          <p:nvPr/>
        </p:nvSpPr>
        <p:spPr>
          <a:xfrm>
            <a:off x="1188720" y="1984248"/>
            <a:ext cx="3657600" cy="493776"/>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Google Dorking</a:t>
            </a:r>
            <a:endParaRPr lang="en-US" sz="1400" dirty="0"/>
          </a:p>
        </p:txBody>
      </p:sp>
      <p:sp>
        <p:nvSpPr>
          <p:cNvPr id="15" name="Shape 13"/>
          <p:cNvSpPr/>
          <p:nvPr/>
        </p:nvSpPr>
        <p:spPr>
          <a:xfrm>
            <a:off x="5029200" y="2066544"/>
            <a:ext cx="1737360" cy="329184"/>
          </a:xfrm>
          <a:prstGeom prst="roundRect">
            <a:avLst>
              <a:gd name="adj" fmla="val 16667"/>
            </a:avLst>
          </a:prstGeom>
          <a:solidFill>
            <a:srgbClr val="E8A33D"/>
          </a:solidFill>
          <a:ln/>
        </p:spPr>
      </p:sp>
      <p:sp>
        <p:nvSpPr>
          <p:cNvPr id="16" name="Text 14"/>
          <p:cNvSpPr/>
          <p:nvPr/>
        </p:nvSpPr>
        <p:spPr>
          <a:xfrm>
            <a:off x="5029200" y="2066544"/>
            <a:ext cx="1737360" cy="329184"/>
          </a:xfrm>
          <a:prstGeom prst="rect">
            <a:avLst/>
          </a:prstGeom>
          <a:noFill/>
          <a:ln/>
        </p:spPr>
        <p:txBody>
          <a:bodyPr wrap="square" rtlCol="0" anchor="ctr"/>
          <a:lstStyle/>
          <a:p>
            <a:pPr algn="ctr" indent="0" marL="0">
              <a:buNone/>
            </a:pPr>
            <a:r>
              <a:rPr lang="en-US" sz="1050" b="1" dirty="0">
                <a:solidFill>
                  <a:srgbClr val="1B1B2F"/>
                </a:solidFill>
                <a:latin typeface="Arial" pitchFamily="34" charset="0"/>
                <a:ea typeface="Arial" pitchFamily="34" charset="-122"/>
                <a:cs typeface="Arial" pitchFamily="34" charset="-120"/>
              </a:rPr>
              <a:t>Concept + Demo</a:t>
            </a:r>
            <a:endParaRPr lang="en-US" sz="1050" dirty="0"/>
          </a:p>
        </p:txBody>
      </p:sp>
      <p:sp>
        <p:nvSpPr>
          <p:cNvPr id="17" name="Text 15"/>
          <p:cNvSpPr/>
          <p:nvPr/>
        </p:nvSpPr>
        <p:spPr>
          <a:xfrm>
            <a:off x="7040880" y="1984248"/>
            <a:ext cx="4572000" cy="493776"/>
          </a:xfrm>
          <a:prstGeom prst="rect">
            <a:avLst/>
          </a:prstGeom>
          <a:noFill/>
          <a:ln/>
        </p:spPr>
        <p:txBody>
          <a:bodyPr wrap="square" rtlCol="0" anchor="ctr"/>
          <a:lstStyle/>
          <a:p>
            <a:pPr indent="0" marL="0">
              <a:buNone/>
            </a:pPr>
            <a:r>
              <a:rPr lang="en-US" sz="1200" dirty="0">
                <a:solidFill>
                  <a:srgbClr val="C9D3DE"/>
                </a:solidFill>
                <a:latin typeface="Arial" pitchFamily="34" charset="0"/>
                <a:ea typeface="Arial" pitchFamily="34" charset="-122"/>
                <a:cs typeface="Arial" pitchFamily="34" charset="-120"/>
              </a:rPr>
              <a:t>Laptop (live)</a:t>
            </a:r>
            <a:endParaRPr lang="en-US" sz="1200" dirty="0"/>
          </a:p>
        </p:txBody>
      </p:sp>
      <p:sp>
        <p:nvSpPr>
          <p:cNvPr id="18" name="Shape 16"/>
          <p:cNvSpPr/>
          <p:nvPr/>
        </p:nvSpPr>
        <p:spPr>
          <a:xfrm>
            <a:off x="457200" y="2551176"/>
            <a:ext cx="11247120" cy="493776"/>
          </a:xfrm>
          <a:prstGeom prst="rect">
            <a:avLst/>
          </a:prstGeom>
          <a:solidFill>
            <a:srgbClr val="0F2A45"/>
          </a:solidFill>
          <a:ln/>
        </p:spPr>
      </p:sp>
      <p:sp>
        <p:nvSpPr>
          <p:cNvPr id="19" name="Text 17"/>
          <p:cNvSpPr/>
          <p:nvPr/>
        </p:nvSpPr>
        <p:spPr>
          <a:xfrm>
            <a:off x="594360" y="2551176"/>
            <a:ext cx="457200" cy="493776"/>
          </a:xfrm>
          <a:prstGeom prst="rect">
            <a:avLst/>
          </a:prstGeom>
          <a:noFill/>
          <a:ln/>
        </p:spPr>
        <p:txBody>
          <a:bodyPr wrap="square" rtlCol="0" anchor="ctr"/>
          <a:lstStyle/>
          <a:p>
            <a:pPr indent="0" marL="0">
              <a:buNone/>
            </a:pPr>
            <a:r>
              <a:rPr lang="en-US" sz="1600" b="1" dirty="0">
                <a:solidFill>
                  <a:srgbClr val="8FA0B3"/>
                </a:solidFill>
                <a:latin typeface="Arial" pitchFamily="34" charset="0"/>
                <a:ea typeface="Arial" pitchFamily="34" charset="-122"/>
                <a:cs typeface="Arial" pitchFamily="34" charset="-120"/>
              </a:rPr>
              <a:t>3</a:t>
            </a:r>
            <a:endParaRPr lang="en-US" sz="1600" dirty="0"/>
          </a:p>
        </p:txBody>
      </p:sp>
      <p:sp>
        <p:nvSpPr>
          <p:cNvPr id="20" name="Text 18"/>
          <p:cNvSpPr/>
          <p:nvPr/>
        </p:nvSpPr>
        <p:spPr>
          <a:xfrm>
            <a:off x="1188720" y="2551176"/>
            <a:ext cx="3657600" cy="493776"/>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OSINT Tool Chain</a:t>
            </a:r>
            <a:endParaRPr lang="en-US" sz="1400" dirty="0"/>
          </a:p>
        </p:txBody>
      </p:sp>
      <p:sp>
        <p:nvSpPr>
          <p:cNvPr id="21" name="Shape 19"/>
          <p:cNvSpPr/>
          <p:nvPr/>
        </p:nvSpPr>
        <p:spPr>
          <a:xfrm>
            <a:off x="5029200" y="2633472"/>
            <a:ext cx="1737360" cy="329184"/>
          </a:xfrm>
          <a:prstGeom prst="roundRect">
            <a:avLst>
              <a:gd name="adj" fmla="val 16667"/>
            </a:avLst>
          </a:prstGeom>
          <a:solidFill>
            <a:srgbClr val="E8A33D"/>
          </a:solidFill>
          <a:ln/>
        </p:spPr>
      </p:sp>
      <p:sp>
        <p:nvSpPr>
          <p:cNvPr id="22" name="Text 20"/>
          <p:cNvSpPr/>
          <p:nvPr/>
        </p:nvSpPr>
        <p:spPr>
          <a:xfrm>
            <a:off x="5029200" y="2633472"/>
            <a:ext cx="1737360" cy="329184"/>
          </a:xfrm>
          <a:prstGeom prst="rect">
            <a:avLst/>
          </a:prstGeom>
          <a:noFill/>
          <a:ln/>
        </p:spPr>
        <p:txBody>
          <a:bodyPr wrap="square" rtlCol="0" anchor="ctr"/>
          <a:lstStyle/>
          <a:p>
            <a:pPr algn="ctr" indent="0" marL="0">
              <a:buNone/>
            </a:pPr>
            <a:r>
              <a:rPr lang="en-US" sz="1050" b="1" dirty="0">
                <a:solidFill>
                  <a:srgbClr val="1B1B2F"/>
                </a:solidFill>
                <a:latin typeface="Arial" pitchFamily="34" charset="0"/>
                <a:ea typeface="Arial" pitchFamily="34" charset="-122"/>
                <a:cs typeface="Arial" pitchFamily="34" charset="-120"/>
              </a:rPr>
              <a:t>Demo</a:t>
            </a:r>
            <a:endParaRPr lang="en-US" sz="1050" dirty="0"/>
          </a:p>
        </p:txBody>
      </p:sp>
      <p:sp>
        <p:nvSpPr>
          <p:cNvPr id="23" name="Text 21"/>
          <p:cNvSpPr/>
          <p:nvPr/>
        </p:nvSpPr>
        <p:spPr>
          <a:xfrm>
            <a:off x="7040880" y="2551176"/>
            <a:ext cx="4572000" cy="493776"/>
          </a:xfrm>
          <a:prstGeom prst="rect">
            <a:avLst/>
          </a:prstGeom>
          <a:noFill/>
          <a:ln/>
        </p:spPr>
        <p:txBody>
          <a:bodyPr wrap="square" rtlCol="0" anchor="ctr"/>
          <a:lstStyle/>
          <a:p>
            <a:pPr indent="0" marL="0">
              <a:buNone/>
            </a:pPr>
            <a:r>
              <a:rPr lang="en-US" sz="1200" dirty="0">
                <a:solidFill>
                  <a:srgbClr val="C9D3DE"/>
                </a:solidFill>
                <a:latin typeface="Arial" pitchFamily="34" charset="0"/>
                <a:ea typeface="Arial" pitchFamily="34" charset="-122"/>
                <a:cs typeface="Arial" pitchFamily="34" charset="-120"/>
              </a:rPr>
              <a:t>Laptop (live)</a:t>
            </a:r>
            <a:endParaRPr lang="en-US" sz="1200" dirty="0"/>
          </a:p>
        </p:txBody>
      </p:sp>
      <p:sp>
        <p:nvSpPr>
          <p:cNvPr id="24" name="Shape 22"/>
          <p:cNvSpPr/>
          <p:nvPr/>
        </p:nvSpPr>
        <p:spPr>
          <a:xfrm>
            <a:off x="457200" y="3118104"/>
            <a:ext cx="11247120" cy="493776"/>
          </a:xfrm>
          <a:prstGeom prst="rect">
            <a:avLst/>
          </a:prstGeom>
          <a:solidFill>
            <a:srgbClr val="0F2A45"/>
          </a:solidFill>
          <a:ln/>
        </p:spPr>
      </p:sp>
      <p:sp>
        <p:nvSpPr>
          <p:cNvPr id="25" name="Text 23"/>
          <p:cNvSpPr/>
          <p:nvPr/>
        </p:nvSpPr>
        <p:spPr>
          <a:xfrm>
            <a:off x="594360" y="3118104"/>
            <a:ext cx="457200" cy="493776"/>
          </a:xfrm>
          <a:prstGeom prst="rect">
            <a:avLst/>
          </a:prstGeom>
          <a:noFill/>
          <a:ln/>
        </p:spPr>
        <p:txBody>
          <a:bodyPr wrap="square" rtlCol="0" anchor="ctr"/>
          <a:lstStyle/>
          <a:p>
            <a:pPr indent="0" marL="0">
              <a:buNone/>
            </a:pPr>
            <a:r>
              <a:rPr lang="en-US" sz="1600" b="1" dirty="0">
                <a:solidFill>
                  <a:srgbClr val="8FA0B3"/>
                </a:solidFill>
                <a:latin typeface="Arial" pitchFamily="34" charset="0"/>
                <a:ea typeface="Arial" pitchFamily="34" charset="-122"/>
                <a:cs typeface="Arial" pitchFamily="34" charset="-120"/>
              </a:rPr>
              <a:t>4</a:t>
            </a:r>
            <a:endParaRPr lang="en-US" sz="1600" dirty="0"/>
          </a:p>
        </p:txBody>
      </p:sp>
      <p:sp>
        <p:nvSpPr>
          <p:cNvPr id="26" name="Text 24"/>
          <p:cNvSpPr/>
          <p:nvPr/>
        </p:nvSpPr>
        <p:spPr>
          <a:xfrm>
            <a:off x="1188720" y="3118104"/>
            <a:ext cx="3657600" cy="493776"/>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Grey Areas &amp; Legal</a:t>
            </a:r>
            <a:endParaRPr lang="en-US" sz="1400" dirty="0"/>
          </a:p>
        </p:txBody>
      </p:sp>
      <p:sp>
        <p:nvSpPr>
          <p:cNvPr id="27" name="Shape 25"/>
          <p:cNvSpPr/>
          <p:nvPr/>
        </p:nvSpPr>
        <p:spPr>
          <a:xfrm>
            <a:off x="5029200" y="3200400"/>
            <a:ext cx="1737360" cy="329184"/>
          </a:xfrm>
          <a:prstGeom prst="roundRect">
            <a:avLst>
              <a:gd name="adj" fmla="val 16667"/>
            </a:avLst>
          </a:prstGeom>
          <a:solidFill>
            <a:srgbClr val="3B8FC4"/>
          </a:solidFill>
          <a:ln/>
        </p:spPr>
      </p:sp>
      <p:sp>
        <p:nvSpPr>
          <p:cNvPr id="28" name="Text 26"/>
          <p:cNvSpPr/>
          <p:nvPr/>
        </p:nvSpPr>
        <p:spPr>
          <a:xfrm>
            <a:off x="5029200" y="3200400"/>
            <a:ext cx="1737360" cy="329184"/>
          </a:xfrm>
          <a:prstGeom prst="rect">
            <a:avLst/>
          </a:prstGeom>
          <a:noFill/>
          <a:ln/>
        </p:spPr>
        <p:txBody>
          <a:bodyPr wrap="square" rtlCol="0" anchor="ctr"/>
          <a:lstStyle/>
          <a:p>
            <a:pPr algn="ctr" indent="0" marL="0">
              <a:buNone/>
            </a:pPr>
            <a:r>
              <a:rPr lang="en-US" sz="1050" b="1" dirty="0">
                <a:solidFill>
                  <a:srgbClr val="1B1B2F"/>
                </a:solidFill>
                <a:latin typeface="Arial" pitchFamily="34" charset="0"/>
                <a:ea typeface="Arial" pitchFamily="34" charset="-122"/>
                <a:cs typeface="Arial" pitchFamily="34" charset="-120"/>
              </a:rPr>
              <a:t>Concept</a:t>
            </a:r>
            <a:endParaRPr lang="en-US" sz="1050" dirty="0"/>
          </a:p>
        </p:txBody>
      </p:sp>
      <p:sp>
        <p:nvSpPr>
          <p:cNvPr id="29" name="Text 27"/>
          <p:cNvSpPr/>
          <p:nvPr/>
        </p:nvSpPr>
        <p:spPr>
          <a:xfrm>
            <a:off x="7040880" y="3118104"/>
            <a:ext cx="4572000" cy="493776"/>
          </a:xfrm>
          <a:prstGeom prst="rect">
            <a:avLst/>
          </a:prstGeom>
          <a:noFill/>
          <a:ln/>
        </p:spPr>
        <p:txBody>
          <a:bodyPr wrap="square" rtlCol="0" anchor="ctr"/>
          <a:lstStyle/>
          <a:p>
            <a:pPr indent="0" marL="0">
              <a:buNone/>
            </a:pPr>
            <a:r>
              <a:rPr lang="en-US" sz="1200" dirty="0">
                <a:solidFill>
                  <a:srgbClr val="C9D3DE"/>
                </a:solidFill>
                <a:latin typeface="Arial" pitchFamily="34" charset="0"/>
                <a:ea typeface="Arial" pitchFamily="34" charset="-122"/>
                <a:cs typeface="Arial" pitchFamily="34" charset="-120"/>
              </a:rPr>
              <a:t>—</a:t>
            </a:r>
            <a:endParaRPr lang="en-US" sz="1200" dirty="0"/>
          </a:p>
        </p:txBody>
      </p:sp>
      <p:sp>
        <p:nvSpPr>
          <p:cNvPr id="30" name="Shape 28"/>
          <p:cNvSpPr/>
          <p:nvPr/>
        </p:nvSpPr>
        <p:spPr>
          <a:xfrm>
            <a:off x="457200" y="3685032"/>
            <a:ext cx="11247120" cy="493776"/>
          </a:xfrm>
          <a:prstGeom prst="rect">
            <a:avLst/>
          </a:prstGeom>
          <a:solidFill>
            <a:srgbClr val="0F2A45"/>
          </a:solidFill>
          <a:ln/>
        </p:spPr>
      </p:sp>
      <p:sp>
        <p:nvSpPr>
          <p:cNvPr id="31" name="Text 29"/>
          <p:cNvSpPr/>
          <p:nvPr/>
        </p:nvSpPr>
        <p:spPr>
          <a:xfrm>
            <a:off x="594360" y="3685032"/>
            <a:ext cx="457200" cy="493776"/>
          </a:xfrm>
          <a:prstGeom prst="rect">
            <a:avLst/>
          </a:prstGeom>
          <a:noFill/>
          <a:ln/>
        </p:spPr>
        <p:txBody>
          <a:bodyPr wrap="square" rtlCol="0" anchor="ctr"/>
          <a:lstStyle/>
          <a:p>
            <a:pPr indent="0" marL="0">
              <a:buNone/>
            </a:pPr>
            <a:r>
              <a:rPr lang="en-US" sz="1600" b="1" dirty="0">
                <a:solidFill>
                  <a:srgbClr val="8FA0B3"/>
                </a:solidFill>
                <a:latin typeface="Arial" pitchFamily="34" charset="0"/>
                <a:ea typeface="Arial" pitchFamily="34" charset="-122"/>
                <a:cs typeface="Arial" pitchFamily="34" charset="-120"/>
              </a:rPr>
              <a:t>5</a:t>
            </a:r>
            <a:endParaRPr lang="en-US" sz="1600" dirty="0"/>
          </a:p>
        </p:txBody>
      </p:sp>
      <p:sp>
        <p:nvSpPr>
          <p:cNvPr id="32" name="Text 30"/>
          <p:cNvSpPr/>
          <p:nvPr/>
        </p:nvSpPr>
        <p:spPr>
          <a:xfrm>
            <a:off x="1188720" y="3685032"/>
            <a:ext cx="3657600" cy="493776"/>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SE Bridge</a:t>
            </a:r>
            <a:endParaRPr lang="en-US" sz="1400" dirty="0"/>
          </a:p>
        </p:txBody>
      </p:sp>
      <p:sp>
        <p:nvSpPr>
          <p:cNvPr id="33" name="Shape 31"/>
          <p:cNvSpPr/>
          <p:nvPr/>
        </p:nvSpPr>
        <p:spPr>
          <a:xfrm>
            <a:off x="5029200" y="3767328"/>
            <a:ext cx="1737360" cy="329184"/>
          </a:xfrm>
          <a:prstGeom prst="roundRect">
            <a:avLst>
              <a:gd name="adj" fmla="val 16667"/>
            </a:avLst>
          </a:prstGeom>
          <a:solidFill>
            <a:srgbClr val="3B8FC4"/>
          </a:solidFill>
          <a:ln/>
        </p:spPr>
      </p:sp>
      <p:sp>
        <p:nvSpPr>
          <p:cNvPr id="34" name="Text 32"/>
          <p:cNvSpPr/>
          <p:nvPr/>
        </p:nvSpPr>
        <p:spPr>
          <a:xfrm>
            <a:off x="5029200" y="3767328"/>
            <a:ext cx="1737360" cy="329184"/>
          </a:xfrm>
          <a:prstGeom prst="rect">
            <a:avLst/>
          </a:prstGeom>
          <a:noFill/>
          <a:ln/>
        </p:spPr>
        <p:txBody>
          <a:bodyPr wrap="square" rtlCol="0" anchor="ctr"/>
          <a:lstStyle/>
          <a:p>
            <a:pPr algn="ctr" indent="0" marL="0">
              <a:buNone/>
            </a:pPr>
            <a:r>
              <a:rPr lang="en-US" sz="1050" b="1" dirty="0">
                <a:solidFill>
                  <a:srgbClr val="1B1B2F"/>
                </a:solidFill>
                <a:latin typeface="Arial" pitchFamily="34" charset="0"/>
                <a:ea typeface="Arial" pitchFamily="34" charset="-122"/>
                <a:cs typeface="Arial" pitchFamily="34" charset="-120"/>
              </a:rPr>
              <a:t>Concept</a:t>
            </a:r>
            <a:endParaRPr lang="en-US" sz="1050" dirty="0"/>
          </a:p>
        </p:txBody>
      </p:sp>
      <p:sp>
        <p:nvSpPr>
          <p:cNvPr id="35" name="Text 33"/>
          <p:cNvSpPr/>
          <p:nvPr/>
        </p:nvSpPr>
        <p:spPr>
          <a:xfrm>
            <a:off x="7040880" y="3685032"/>
            <a:ext cx="4572000" cy="493776"/>
          </a:xfrm>
          <a:prstGeom prst="rect">
            <a:avLst/>
          </a:prstGeom>
          <a:noFill/>
          <a:ln/>
        </p:spPr>
        <p:txBody>
          <a:bodyPr wrap="square" rtlCol="0" anchor="ctr"/>
          <a:lstStyle/>
          <a:p>
            <a:pPr indent="0" marL="0">
              <a:buNone/>
            </a:pPr>
            <a:r>
              <a:rPr lang="en-US" sz="1200" dirty="0">
                <a:solidFill>
                  <a:srgbClr val="C9D3DE"/>
                </a:solidFill>
                <a:latin typeface="Arial" pitchFamily="34" charset="0"/>
                <a:ea typeface="Arial" pitchFamily="34" charset="-122"/>
                <a:cs typeface="Arial" pitchFamily="34" charset="-120"/>
              </a:rPr>
              <a:t>—</a:t>
            </a:r>
            <a:endParaRPr lang="en-US" sz="1200" dirty="0"/>
          </a:p>
        </p:txBody>
      </p:sp>
      <p:sp>
        <p:nvSpPr>
          <p:cNvPr id="36" name="Shape 34"/>
          <p:cNvSpPr/>
          <p:nvPr/>
        </p:nvSpPr>
        <p:spPr>
          <a:xfrm>
            <a:off x="457200" y="4251960"/>
            <a:ext cx="11247120" cy="493776"/>
          </a:xfrm>
          <a:prstGeom prst="rect">
            <a:avLst/>
          </a:prstGeom>
          <a:solidFill>
            <a:srgbClr val="0F2A45"/>
          </a:solidFill>
          <a:ln/>
        </p:spPr>
      </p:sp>
      <p:sp>
        <p:nvSpPr>
          <p:cNvPr id="37" name="Text 35"/>
          <p:cNvSpPr/>
          <p:nvPr/>
        </p:nvSpPr>
        <p:spPr>
          <a:xfrm>
            <a:off x="594360" y="4251960"/>
            <a:ext cx="457200" cy="493776"/>
          </a:xfrm>
          <a:prstGeom prst="rect">
            <a:avLst/>
          </a:prstGeom>
          <a:noFill/>
          <a:ln/>
        </p:spPr>
        <p:txBody>
          <a:bodyPr wrap="square" rtlCol="0" anchor="ctr"/>
          <a:lstStyle/>
          <a:p>
            <a:pPr indent="0" marL="0">
              <a:buNone/>
            </a:pPr>
            <a:r>
              <a:rPr lang="en-US" sz="1600" b="1" dirty="0">
                <a:solidFill>
                  <a:srgbClr val="8FA0B3"/>
                </a:solidFill>
                <a:latin typeface="Arial" pitchFamily="34" charset="0"/>
                <a:ea typeface="Arial" pitchFamily="34" charset="-122"/>
                <a:cs typeface="Arial" pitchFamily="34" charset="-120"/>
              </a:rPr>
              <a:t>6</a:t>
            </a:r>
            <a:endParaRPr lang="en-US" sz="1600" dirty="0"/>
          </a:p>
        </p:txBody>
      </p:sp>
      <p:sp>
        <p:nvSpPr>
          <p:cNvPr id="38" name="Text 36"/>
          <p:cNvSpPr/>
          <p:nvPr/>
        </p:nvSpPr>
        <p:spPr>
          <a:xfrm>
            <a:off x="1188720" y="4251960"/>
            <a:ext cx="3657600" cy="493776"/>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SET Walkthrough</a:t>
            </a:r>
            <a:endParaRPr lang="en-US" sz="1400" dirty="0"/>
          </a:p>
        </p:txBody>
      </p:sp>
      <p:sp>
        <p:nvSpPr>
          <p:cNvPr id="39" name="Shape 37"/>
          <p:cNvSpPr/>
          <p:nvPr/>
        </p:nvSpPr>
        <p:spPr>
          <a:xfrm>
            <a:off x="5029200" y="4334256"/>
            <a:ext cx="1737360" cy="329184"/>
          </a:xfrm>
          <a:prstGeom prst="roundRect">
            <a:avLst>
              <a:gd name="adj" fmla="val 16667"/>
            </a:avLst>
          </a:prstGeom>
          <a:solidFill>
            <a:srgbClr val="E8A33D"/>
          </a:solidFill>
          <a:ln/>
        </p:spPr>
      </p:sp>
      <p:sp>
        <p:nvSpPr>
          <p:cNvPr id="40" name="Text 38"/>
          <p:cNvSpPr/>
          <p:nvPr/>
        </p:nvSpPr>
        <p:spPr>
          <a:xfrm>
            <a:off x="5029200" y="4334256"/>
            <a:ext cx="1737360" cy="329184"/>
          </a:xfrm>
          <a:prstGeom prst="rect">
            <a:avLst/>
          </a:prstGeom>
          <a:noFill/>
          <a:ln/>
        </p:spPr>
        <p:txBody>
          <a:bodyPr wrap="square" rtlCol="0" anchor="ctr"/>
          <a:lstStyle/>
          <a:p>
            <a:pPr algn="ctr" indent="0" marL="0">
              <a:buNone/>
            </a:pPr>
            <a:r>
              <a:rPr lang="en-US" sz="1050" b="1" dirty="0">
                <a:solidFill>
                  <a:srgbClr val="1B1B2F"/>
                </a:solidFill>
                <a:latin typeface="Arial" pitchFamily="34" charset="0"/>
                <a:ea typeface="Arial" pitchFamily="34" charset="-122"/>
                <a:cs typeface="Arial" pitchFamily="34" charset="-120"/>
              </a:rPr>
              <a:t>Demo</a:t>
            </a:r>
            <a:endParaRPr lang="en-US" sz="1050" dirty="0"/>
          </a:p>
        </p:txBody>
      </p:sp>
      <p:sp>
        <p:nvSpPr>
          <p:cNvPr id="41" name="Text 39"/>
          <p:cNvSpPr/>
          <p:nvPr/>
        </p:nvSpPr>
        <p:spPr>
          <a:xfrm>
            <a:off x="7040880" y="4251960"/>
            <a:ext cx="4572000" cy="493776"/>
          </a:xfrm>
          <a:prstGeom prst="rect">
            <a:avLst/>
          </a:prstGeom>
          <a:noFill/>
          <a:ln/>
        </p:spPr>
        <p:txBody>
          <a:bodyPr wrap="square" rtlCol="0" anchor="ctr"/>
          <a:lstStyle/>
          <a:p>
            <a:pPr indent="0" marL="0">
              <a:buNone/>
            </a:pPr>
            <a:r>
              <a:rPr lang="en-US" sz="1200" dirty="0">
                <a:solidFill>
                  <a:srgbClr val="C9D3DE"/>
                </a:solidFill>
                <a:latin typeface="Arial" pitchFamily="34" charset="0"/>
                <a:ea typeface="Arial" pitchFamily="34" charset="-122"/>
                <a:cs typeface="Arial" pitchFamily="34" charset="-120"/>
              </a:rPr>
              <a:t>Kali → Ubuntu (air-gap)</a:t>
            </a:r>
            <a:endParaRPr lang="en-US" sz="1200" dirty="0"/>
          </a:p>
        </p:txBody>
      </p:sp>
      <p:sp>
        <p:nvSpPr>
          <p:cNvPr id="42" name="Shape 40"/>
          <p:cNvSpPr/>
          <p:nvPr/>
        </p:nvSpPr>
        <p:spPr>
          <a:xfrm>
            <a:off x="457200" y="4818888"/>
            <a:ext cx="11247120" cy="493776"/>
          </a:xfrm>
          <a:prstGeom prst="rect">
            <a:avLst/>
          </a:prstGeom>
          <a:solidFill>
            <a:srgbClr val="0F2A45"/>
          </a:solidFill>
          <a:ln/>
        </p:spPr>
      </p:sp>
      <p:sp>
        <p:nvSpPr>
          <p:cNvPr id="43" name="Text 41"/>
          <p:cNvSpPr/>
          <p:nvPr/>
        </p:nvSpPr>
        <p:spPr>
          <a:xfrm>
            <a:off x="594360" y="4818888"/>
            <a:ext cx="457200" cy="493776"/>
          </a:xfrm>
          <a:prstGeom prst="rect">
            <a:avLst/>
          </a:prstGeom>
          <a:noFill/>
          <a:ln/>
        </p:spPr>
        <p:txBody>
          <a:bodyPr wrap="square" rtlCol="0" anchor="ctr"/>
          <a:lstStyle/>
          <a:p>
            <a:pPr indent="0" marL="0">
              <a:buNone/>
            </a:pPr>
            <a:r>
              <a:rPr lang="en-US" sz="1600" b="1" dirty="0">
                <a:solidFill>
                  <a:srgbClr val="8FA0B3"/>
                </a:solidFill>
                <a:latin typeface="Arial" pitchFamily="34" charset="0"/>
                <a:ea typeface="Arial" pitchFamily="34" charset="-122"/>
                <a:cs typeface="Arial" pitchFamily="34" charset="-120"/>
              </a:rPr>
              <a:t>7</a:t>
            </a:r>
            <a:endParaRPr lang="en-US" sz="1600" dirty="0"/>
          </a:p>
        </p:txBody>
      </p:sp>
      <p:sp>
        <p:nvSpPr>
          <p:cNvPr id="44" name="Text 42"/>
          <p:cNvSpPr/>
          <p:nvPr/>
        </p:nvSpPr>
        <p:spPr>
          <a:xfrm>
            <a:off x="1188720" y="4818888"/>
            <a:ext cx="3657600" cy="493776"/>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GoPhish Walkthrough</a:t>
            </a:r>
            <a:endParaRPr lang="en-US" sz="1400" dirty="0"/>
          </a:p>
        </p:txBody>
      </p:sp>
      <p:sp>
        <p:nvSpPr>
          <p:cNvPr id="45" name="Shape 43"/>
          <p:cNvSpPr/>
          <p:nvPr/>
        </p:nvSpPr>
        <p:spPr>
          <a:xfrm>
            <a:off x="5029200" y="4901184"/>
            <a:ext cx="1737360" cy="329184"/>
          </a:xfrm>
          <a:prstGeom prst="roundRect">
            <a:avLst>
              <a:gd name="adj" fmla="val 16667"/>
            </a:avLst>
          </a:prstGeom>
          <a:solidFill>
            <a:srgbClr val="E8A33D"/>
          </a:solidFill>
          <a:ln/>
        </p:spPr>
      </p:sp>
      <p:sp>
        <p:nvSpPr>
          <p:cNvPr id="46" name="Text 44"/>
          <p:cNvSpPr/>
          <p:nvPr/>
        </p:nvSpPr>
        <p:spPr>
          <a:xfrm>
            <a:off x="5029200" y="4901184"/>
            <a:ext cx="1737360" cy="329184"/>
          </a:xfrm>
          <a:prstGeom prst="rect">
            <a:avLst/>
          </a:prstGeom>
          <a:noFill/>
          <a:ln/>
        </p:spPr>
        <p:txBody>
          <a:bodyPr wrap="square" rtlCol="0" anchor="ctr"/>
          <a:lstStyle/>
          <a:p>
            <a:pPr algn="ctr" indent="0" marL="0">
              <a:buNone/>
            </a:pPr>
            <a:r>
              <a:rPr lang="en-US" sz="1050" b="1" dirty="0">
                <a:solidFill>
                  <a:srgbClr val="1B1B2F"/>
                </a:solidFill>
                <a:latin typeface="Arial" pitchFamily="34" charset="0"/>
                <a:ea typeface="Arial" pitchFamily="34" charset="-122"/>
                <a:cs typeface="Arial" pitchFamily="34" charset="-120"/>
              </a:rPr>
              <a:t>Demo</a:t>
            </a:r>
            <a:endParaRPr lang="en-US" sz="1050" dirty="0"/>
          </a:p>
        </p:txBody>
      </p:sp>
      <p:sp>
        <p:nvSpPr>
          <p:cNvPr id="47" name="Text 45"/>
          <p:cNvSpPr/>
          <p:nvPr/>
        </p:nvSpPr>
        <p:spPr>
          <a:xfrm>
            <a:off x="7040880" y="4818888"/>
            <a:ext cx="4572000" cy="493776"/>
          </a:xfrm>
          <a:prstGeom prst="rect">
            <a:avLst/>
          </a:prstGeom>
          <a:noFill/>
          <a:ln/>
        </p:spPr>
        <p:txBody>
          <a:bodyPr wrap="square" rtlCol="0" anchor="ctr"/>
          <a:lstStyle/>
          <a:p>
            <a:pPr indent="0" marL="0">
              <a:buNone/>
            </a:pPr>
            <a:r>
              <a:rPr lang="en-US" sz="1200" dirty="0">
                <a:solidFill>
                  <a:srgbClr val="C9D3DE"/>
                </a:solidFill>
                <a:latin typeface="Arial" pitchFamily="34" charset="0"/>
                <a:ea typeface="Arial" pitchFamily="34" charset="-122"/>
                <a:cs typeface="Arial" pitchFamily="34" charset="-120"/>
              </a:rPr>
              <a:t>Kali → Ubuntu (air-gap)</a:t>
            </a:r>
            <a:endParaRPr lang="en-US" sz="1200" dirty="0"/>
          </a:p>
        </p:txBody>
      </p:sp>
      <p:sp>
        <p:nvSpPr>
          <p:cNvPr id="48" name="Shape 46"/>
          <p:cNvSpPr/>
          <p:nvPr/>
        </p:nvSpPr>
        <p:spPr>
          <a:xfrm>
            <a:off x="457200" y="5385816"/>
            <a:ext cx="11247120" cy="493776"/>
          </a:xfrm>
          <a:prstGeom prst="rect">
            <a:avLst/>
          </a:prstGeom>
          <a:solidFill>
            <a:srgbClr val="0F2A45"/>
          </a:solidFill>
          <a:ln/>
        </p:spPr>
      </p:sp>
      <p:sp>
        <p:nvSpPr>
          <p:cNvPr id="49" name="Text 47"/>
          <p:cNvSpPr/>
          <p:nvPr/>
        </p:nvSpPr>
        <p:spPr>
          <a:xfrm>
            <a:off x="594360" y="5385816"/>
            <a:ext cx="457200" cy="493776"/>
          </a:xfrm>
          <a:prstGeom prst="rect">
            <a:avLst/>
          </a:prstGeom>
          <a:noFill/>
          <a:ln/>
        </p:spPr>
        <p:txBody>
          <a:bodyPr wrap="square" rtlCol="0" anchor="ctr"/>
          <a:lstStyle/>
          <a:p>
            <a:pPr indent="0" marL="0">
              <a:buNone/>
            </a:pPr>
            <a:r>
              <a:rPr lang="en-US" sz="1600" b="1" dirty="0">
                <a:solidFill>
                  <a:srgbClr val="8FA0B3"/>
                </a:solidFill>
                <a:latin typeface="Arial" pitchFamily="34" charset="0"/>
                <a:ea typeface="Arial" pitchFamily="34" charset="-122"/>
                <a:cs typeface="Arial" pitchFamily="34" charset="-120"/>
              </a:rPr>
              <a:t>8</a:t>
            </a:r>
            <a:endParaRPr lang="en-US" sz="1600" dirty="0"/>
          </a:p>
        </p:txBody>
      </p:sp>
      <p:sp>
        <p:nvSpPr>
          <p:cNvPr id="50" name="Text 48"/>
          <p:cNvSpPr/>
          <p:nvPr/>
        </p:nvSpPr>
        <p:spPr>
          <a:xfrm>
            <a:off x="1188720" y="5385816"/>
            <a:ext cx="3657600" cy="493776"/>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Air-gapped Exercise</a:t>
            </a:r>
            <a:endParaRPr lang="en-US" sz="1400" dirty="0"/>
          </a:p>
        </p:txBody>
      </p:sp>
      <p:sp>
        <p:nvSpPr>
          <p:cNvPr id="51" name="Shape 49"/>
          <p:cNvSpPr/>
          <p:nvPr/>
        </p:nvSpPr>
        <p:spPr>
          <a:xfrm>
            <a:off x="5029200" y="5468112"/>
            <a:ext cx="1737360" cy="329184"/>
          </a:xfrm>
          <a:prstGeom prst="roundRect">
            <a:avLst>
              <a:gd name="adj" fmla="val 16667"/>
            </a:avLst>
          </a:prstGeom>
          <a:solidFill>
            <a:srgbClr val="5FA777"/>
          </a:solidFill>
          <a:ln/>
        </p:spPr>
      </p:sp>
      <p:sp>
        <p:nvSpPr>
          <p:cNvPr id="52" name="Text 50"/>
          <p:cNvSpPr/>
          <p:nvPr/>
        </p:nvSpPr>
        <p:spPr>
          <a:xfrm>
            <a:off x="5029200" y="5468112"/>
            <a:ext cx="1737360" cy="329184"/>
          </a:xfrm>
          <a:prstGeom prst="rect">
            <a:avLst/>
          </a:prstGeom>
          <a:noFill/>
          <a:ln/>
        </p:spPr>
        <p:txBody>
          <a:bodyPr wrap="square" rtlCol="0" anchor="ctr"/>
          <a:lstStyle/>
          <a:p>
            <a:pPr algn="ctr" indent="0" marL="0">
              <a:buNone/>
            </a:pPr>
            <a:r>
              <a:rPr lang="en-US" sz="1050" b="1" dirty="0">
                <a:solidFill>
                  <a:srgbClr val="1B1B2F"/>
                </a:solidFill>
                <a:latin typeface="Arial" pitchFamily="34" charset="0"/>
                <a:ea typeface="Arial" pitchFamily="34" charset="-122"/>
                <a:cs typeface="Arial" pitchFamily="34" charset="-120"/>
              </a:rPr>
              <a:t>Practice (flex)</a:t>
            </a:r>
            <a:endParaRPr lang="en-US" sz="1050" dirty="0"/>
          </a:p>
        </p:txBody>
      </p:sp>
      <p:sp>
        <p:nvSpPr>
          <p:cNvPr id="53" name="Text 51"/>
          <p:cNvSpPr/>
          <p:nvPr/>
        </p:nvSpPr>
        <p:spPr>
          <a:xfrm>
            <a:off x="7040880" y="5385816"/>
            <a:ext cx="4572000" cy="493776"/>
          </a:xfrm>
          <a:prstGeom prst="rect">
            <a:avLst/>
          </a:prstGeom>
          <a:noFill/>
          <a:ln/>
        </p:spPr>
        <p:txBody>
          <a:bodyPr wrap="square" rtlCol="0" anchor="ctr"/>
          <a:lstStyle/>
          <a:p>
            <a:pPr indent="0" marL="0">
              <a:buNone/>
            </a:pPr>
            <a:r>
              <a:rPr lang="en-US" sz="1200" dirty="0">
                <a:solidFill>
                  <a:srgbClr val="C9D3DE"/>
                </a:solidFill>
                <a:latin typeface="Arial" pitchFamily="34" charset="0"/>
                <a:ea typeface="Arial" pitchFamily="34" charset="-122"/>
                <a:cs typeface="Arial" pitchFamily="34" charset="-120"/>
              </a:rPr>
              <a:t>Kali → Ubuntu (air-gap)</a:t>
            </a:r>
            <a:endParaRPr lang="en-US" sz="1200" dirty="0"/>
          </a:p>
        </p:txBody>
      </p:sp>
      <p:sp>
        <p:nvSpPr>
          <p:cNvPr id="54" name="Shape 52"/>
          <p:cNvSpPr/>
          <p:nvPr/>
        </p:nvSpPr>
        <p:spPr>
          <a:xfrm>
            <a:off x="0" y="6473952"/>
            <a:ext cx="12161520" cy="384048"/>
          </a:xfrm>
          <a:prstGeom prst="rect">
            <a:avLst/>
          </a:prstGeom>
          <a:solidFill>
            <a:srgbClr val="2E2148"/>
          </a:solidFill>
          <a:ln/>
        </p:spPr>
      </p:sp>
      <p:sp>
        <p:nvSpPr>
          <p:cNvPr id="55" name="Text 53"/>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420"/>
        </a:solidFill>
      </p:bgPr>
    </p:bg>
    <p:spTree>
      <p:nvGrpSpPr>
        <p:cNvPr id="1" name=""/>
        <p:cNvGrpSpPr/>
        <p:nvPr/>
      </p:nvGrpSpPr>
      <p:grpSpPr>
        <a:xfrm>
          <a:off x="0" y="0"/>
          <a:ext cx="0" cy="0"/>
          <a:chOff x="0" y="0"/>
          <a:chExt cx="0" cy="0"/>
        </a:xfrm>
      </p:grpSpPr>
      <p:sp>
        <p:nvSpPr>
          <p:cNvPr id="2" name="Text 0"/>
          <p:cNvSpPr/>
          <p:nvPr/>
        </p:nvSpPr>
        <p:spPr>
          <a:xfrm>
            <a:off x="640080" y="2331720"/>
            <a:ext cx="7315200" cy="457200"/>
          </a:xfrm>
          <a:prstGeom prst="rect">
            <a:avLst/>
          </a:prstGeom>
          <a:noFill/>
          <a:ln/>
        </p:spPr>
        <p:txBody>
          <a:bodyPr wrap="square" rtlCol="0" anchor="ctr"/>
          <a:lstStyle/>
          <a:p>
            <a:pPr indent="0" marL="0">
              <a:buNone/>
            </a:pPr>
            <a:r>
              <a:rPr lang="en-US" sz="1400" b="1" spc="200" kern="0" dirty="0">
                <a:solidFill>
                  <a:srgbClr val="E8A33D"/>
                </a:solidFill>
                <a:latin typeface="Arial" pitchFamily="34" charset="0"/>
                <a:ea typeface="Arial" pitchFamily="34" charset="-122"/>
                <a:cs typeface="Arial" pitchFamily="34" charset="-120"/>
              </a:rPr>
              <a:t>SEGMENT 1</a:t>
            </a:r>
            <a:endParaRPr lang="en-US" sz="1400" dirty="0"/>
          </a:p>
        </p:txBody>
      </p:sp>
      <p:sp>
        <p:nvSpPr>
          <p:cNvPr id="3" name="Text 1"/>
          <p:cNvSpPr/>
          <p:nvPr/>
        </p:nvSpPr>
        <p:spPr>
          <a:xfrm>
            <a:off x="640080" y="2743200"/>
            <a:ext cx="10515600" cy="1005840"/>
          </a:xfrm>
          <a:prstGeom prst="rect">
            <a:avLst/>
          </a:prstGeom>
          <a:noFill/>
          <a:ln/>
        </p:spPr>
        <p:txBody>
          <a:bodyPr wrap="square" rtlCol="0" anchor="ctr"/>
          <a:lstStyle/>
          <a:p>
            <a:pPr indent="0" marL="0">
              <a:buNone/>
            </a:pPr>
            <a:r>
              <a:rPr lang="en-US" sz="4200" b="1" dirty="0">
                <a:solidFill>
                  <a:srgbClr val="FFFFFF"/>
                </a:solidFill>
                <a:latin typeface="Arial" pitchFamily="34" charset="0"/>
                <a:ea typeface="Arial" pitchFamily="34" charset="-122"/>
                <a:cs typeface="Arial" pitchFamily="34" charset="-120"/>
              </a:rPr>
              <a:t>Foundations</a:t>
            </a:r>
            <a:endParaRPr lang="en-US" sz="4200" dirty="0"/>
          </a:p>
        </p:txBody>
      </p:sp>
      <p:sp>
        <p:nvSpPr>
          <p:cNvPr id="4" name="Text 2"/>
          <p:cNvSpPr/>
          <p:nvPr/>
        </p:nvSpPr>
        <p:spPr>
          <a:xfrm>
            <a:off x="640080" y="3703320"/>
            <a:ext cx="9601200" cy="457200"/>
          </a:xfrm>
          <a:prstGeom prst="rect">
            <a:avLst/>
          </a:prstGeom>
          <a:noFill/>
          <a:ln/>
        </p:spPr>
        <p:txBody>
          <a:bodyPr wrap="square" rtlCol="0" anchor="ctr"/>
          <a:lstStyle/>
          <a:p>
            <a:pPr indent="0" marL="0">
              <a:buNone/>
            </a:pPr>
            <a:r>
              <a:rPr lang="en-US" sz="1400" i="1" dirty="0">
                <a:solidFill>
                  <a:srgbClr val="C9D3DE"/>
                </a:solidFill>
                <a:latin typeface="Arial" pitchFamily="34" charset="0"/>
                <a:ea typeface="Arial" pitchFamily="34" charset="-122"/>
                <a:cs typeface="Arial" pitchFamily="34" charset="-120"/>
              </a:rPr>
              <a:t>Definitions, sources, the information cycle — and why this matters now</a:t>
            </a:r>
            <a:endParaRPr lang="en-US" sz="1400" dirty="0"/>
          </a:p>
        </p:txBody>
      </p:sp>
      <p:sp>
        <p:nvSpPr>
          <p:cNvPr id="5" name="Shape 3"/>
          <p:cNvSpPr/>
          <p:nvPr/>
        </p:nvSpPr>
        <p:spPr>
          <a:xfrm>
            <a:off x="10195560" y="384048"/>
            <a:ext cx="1600200" cy="384048"/>
          </a:xfrm>
          <a:prstGeom prst="roundRect">
            <a:avLst>
              <a:gd name="adj" fmla="val 19048"/>
            </a:avLst>
          </a:prstGeom>
          <a:solidFill>
            <a:srgbClr val="3B8FC4"/>
          </a:solidFill>
          <a:ln/>
        </p:spPr>
      </p:sp>
      <p:sp>
        <p:nvSpPr>
          <p:cNvPr id="6" name="Text 4"/>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CONCEPT</a:t>
            </a:r>
            <a:endParaRPr lang="en-US" sz="1200" dirty="0"/>
          </a:p>
        </p:txBody>
      </p:sp>
      <p:sp>
        <p:nvSpPr>
          <p:cNvPr id="7" name="Shape 5"/>
          <p:cNvSpPr/>
          <p:nvPr/>
        </p:nvSpPr>
        <p:spPr>
          <a:xfrm>
            <a:off x="0" y="6473952"/>
            <a:ext cx="12161520" cy="384048"/>
          </a:xfrm>
          <a:prstGeom prst="rect">
            <a:avLst/>
          </a:prstGeom>
          <a:solidFill>
            <a:srgbClr val="2E2148"/>
          </a:solidFill>
          <a:ln/>
        </p:spPr>
      </p:sp>
      <p:sp>
        <p:nvSpPr>
          <p:cNvPr id="8" name="Text 6"/>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OSINT: Definition &amp; Sources</a:t>
            </a:r>
            <a:endParaRPr lang="en-US" sz="2800" dirty="0"/>
          </a:p>
        </p:txBody>
      </p:sp>
      <p:sp>
        <p:nvSpPr>
          <p:cNvPr id="4" name="Shape 2"/>
          <p:cNvSpPr/>
          <p:nvPr/>
        </p:nvSpPr>
        <p:spPr>
          <a:xfrm>
            <a:off x="10195560" y="384048"/>
            <a:ext cx="1600200" cy="384048"/>
          </a:xfrm>
          <a:prstGeom prst="roundRect">
            <a:avLst>
              <a:gd name="adj" fmla="val 19048"/>
            </a:avLst>
          </a:prstGeom>
          <a:solidFill>
            <a:srgbClr val="3B8FC4"/>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CONCEPT</a:t>
            </a:r>
            <a:endParaRPr lang="en-US" sz="1200" dirty="0"/>
          </a:p>
        </p:txBody>
      </p:sp>
      <p:sp>
        <p:nvSpPr>
          <p:cNvPr id="6" name="Text 4"/>
          <p:cNvSpPr/>
          <p:nvPr/>
        </p:nvSpPr>
        <p:spPr>
          <a:xfrm>
            <a:off x="640080" y="1600200"/>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Open Source Intelligence — intelligence produced from publicly available information, collected, exploited, and disseminated to meet a specific requirement</a:t>
            </a:r>
            <a:endParaRPr lang="en-US" sz="1500" dirty="0"/>
          </a:p>
        </p:txBody>
      </p:sp>
      <p:sp>
        <p:nvSpPr>
          <p:cNvPr id="7" name="Text 5"/>
          <p:cNvSpPr/>
          <p:nvPr/>
        </p:nvSpPr>
        <p:spPr>
          <a:xfrm>
            <a:off x="640080" y="2505456"/>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Sources: search engines &amp; dorking, social media, public records, DNS/WHOIS, satellite imagery, certificate transparency logs, breach databases, GitHub/code repos</a:t>
            </a:r>
            <a:endParaRPr lang="en-US" sz="1500" dirty="0"/>
          </a:p>
        </p:txBody>
      </p:sp>
      <p:sp>
        <p:nvSpPr>
          <p:cNvPr id="8" name="Text 6"/>
          <p:cNvSpPr/>
          <p:nvPr/>
        </p:nvSpPr>
        <p:spPr>
          <a:xfrm>
            <a:off x="640080" y="3520440"/>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Not just "Googling" — it is a disciplined cycle: requirement → collection → processing → analysis → dissemination</a:t>
            </a:r>
            <a:endParaRPr lang="en-US" sz="1500" dirty="0"/>
          </a:p>
        </p:txBody>
      </p:sp>
      <p:sp>
        <p:nvSpPr>
          <p:cNvPr id="9" name="Text 7"/>
          <p:cNvSpPr/>
          <p:nvPr/>
        </p:nvSpPr>
        <p:spPr>
          <a:xfrm>
            <a:off x="640080" y="4425696"/>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Same discipline applies whether the target is a person, an organisation, or a nation-state</a:t>
            </a:r>
            <a:endParaRPr lang="en-US" sz="1500" dirty="0"/>
          </a:p>
        </p:txBody>
      </p:sp>
      <p:sp>
        <p:nvSpPr>
          <p:cNvPr id="10" name="Shape 8"/>
          <p:cNvSpPr/>
          <p:nvPr/>
        </p:nvSpPr>
        <p:spPr>
          <a:xfrm>
            <a:off x="7132320" y="1600200"/>
            <a:ext cx="4480560" cy="4297680"/>
          </a:xfrm>
          <a:prstGeom prst="rect">
            <a:avLst/>
          </a:prstGeom>
          <a:solidFill>
            <a:srgbClr val="10233A"/>
          </a:solidFill>
          <a:ln w="12700">
            <a:solidFill>
              <a:srgbClr val="8FA0B3"/>
            </a:solidFill>
            <a:prstDash val="dash"/>
          </a:ln>
        </p:spPr>
      </p:sp>
      <p:sp>
        <p:nvSpPr>
          <p:cNvPr id="11" name="Text 9"/>
          <p:cNvSpPr/>
          <p:nvPr/>
        </p:nvSpPr>
        <p:spPr>
          <a:xfrm>
            <a:off x="7269480" y="3474720"/>
            <a:ext cx="4206240" cy="548640"/>
          </a:xfrm>
          <a:prstGeom prst="rect">
            <a:avLst/>
          </a:prstGeom>
          <a:noFill/>
          <a:ln/>
        </p:spPr>
        <p:txBody>
          <a:bodyPr wrap="square" rtlCol="0" anchor="ctr"/>
          <a:lstStyle/>
          <a:p>
            <a:pPr algn="ctr" indent="0" marL="0">
              <a:buNone/>
            </a:pPr>
            <a:r>
              <a:rPr lang="en-US" sz="1100" i="1" dirty="0">
                <a:solidFill>
                  <a:srgbClr val="8FA0B3"/>
                </a:solidFill>
                <a:latin typeface="Arial" pitchFamily="34" charset="0"/>
                <a:ea typeface="Arial" pitchFamily="34" charset="-122"/>
                <a:cs typeface="Arial" pitchFamily="34" charset="-120"/>
              </a:rPr>
              <a:t>🖼  OSINT source-type icon grid (search / social / DNS / satellite)</a:t>
            </a:r>
            <a:endParaRPr lang="en-US" sz="1100" dirty="0"/>
          </a:p>
        </p:txBody>
      </p:sp>
      <p:sp>
        <p:nvSpPr>
          <p:cNvPr id="12" name="Shape 10"/>
          <p:cNvSpPr/>
          <p:nvPr/>
        </p:nvSpPr>
        <p:spPr>
          <a:xfrm>
            <a:off x="0" y="6473952"/>
            <a:ext cx="12161520" cy="384048"/>
          </a:xfrm>
          <a:prstGeom prst="rect">
            <a:avLst/>
          </a:prstGeom>
          <a:solidFill>
            <a:srgbClr val="2E2148"/>
          </a:solidFill>
          <a:ln/>
        </p:spPr>
      </p:sp>
      <p:sp>
        <p:nvSpPr>
          <p:cNvPr id="13" name="Text 11"/>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Information Cycle</a:t>
            </a:r>
            <a:endParaRPr lang="en-US" sz="2800" dirty="0"/>
          </a:p>
        </p:txBody>
      </p:sp>
      <p:sp>
        <p:nvSpPr>
          <p:cNvPr id="4" name="Shape 2"/>
          <p:cNvSpPr/>
          <p:nvPr/>
        </p:nvSpPr>
        <p:spPr>
          <a:xfrm>
            <a:off x="10195560" y="384048"/>
            <a:ext cx="1600200" cy="384048"/>
          </a:xfrm>
          <a:prstGeom prst="roundRect">
            <a:avLst>
              <a:gd name="adj" fmla="val 19048"/>
            </a:avLst>
          </a:prstGeom>
          <a:solidFill>
            <a:srgbClr val="3B8FC4"/>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CONCEPT</a:t>
            </a:r>
            <a:endParaRPr lang="en-US" sz="1200" dirty="0"/>
          </a:p>
        </p:txBody>
      </p:sp>
      <p:sp>
        <p:nvSpPr>
          <p:cNvPr id="6" name="Text 4"/>
          <p:cNvSpPr/>
          <p:nvPr/>
        </p:nvSpPr>
        <p:spPr>
          <a:xfrm>
            <a:off x="640080" y="1600200"/>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Direction — define what you actually need to know, not just what's easy to find</a:t>
            </a:r>
            <a:endParaRPr lang="en-US" sz="1500" dirty="0"/>
          </a:p>
        </p:txBody>
      </p:sp>
      <p:sp>
        <p:nvSpPr>
          <p:cNvPr id="7" name="Text 5"/>
          <p:cNvSpPr/>
          <p:nvPr/>
        </p:nvSpPr>
        <p:spPr>
          <a:xfrm>
            <a:off x="640080" y="2505456"/>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Collection — gather from the widest relevant source set, not just the first hit</a:t>
            </a:r>
            <a:endParaRPr lang="en-US" sz="1500" dirty="0"/>
          </a:p>
        </p:txBody>
      </p:sp>
      <p:sp>
        <p:nvSpPr>
          <p:cNvPr id="8" name="Text 6"/>
          <p:cNvSpPr/>
          <p:nvPr/>
        </p:nvSpPr>
        <p:spPr>
          <a:xfrm>
            <a:off x="640080" y="3410712"/>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Processing — filter noise, deduplicate, normalise formats</a:t>
            </a:r>
            <a:endParaRPr lang="en-US" sz="1500" dirty="0"/>
          </a:p>
        </p:txBody>
      </p:sp>
      <p:sp>
        <p:nvSpPr>
          <p:cNvPr id="9" name="Text 7"/>
          <p:cNvSpPr/>
          <p:nvPr/>
        </p:nvSpPr>
        <p:spPr>
          <a:xfrm>
            <a:off x="640080" y="4206240"/>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Analysis — the highest-value, hardest-to-automate step: judgment, corroboration, verification</a:t>
            </a:r>
            <a:endParaRPr lang="en-US" sz="1500" dirty="0"/>
          </a:p>
        </p:txBody>
      </p:sp>
      <p:sp>
        <p:nvSpPr>
          <p:cNvPr id="10" name="Text 8"/>
          <p:cNvSpPr/>
          <p:nvPr/>
        </p:nvSpPr>
        <p:spPr>
          <a:xfrm>
            <a:off x="640080" y="5111496"/>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Dissemination — package findings for the decision-maker, not as a raw data dump</a:t>
            </a:r>
            <a:endParaRPr lang="en-US" sz="1500" dirty="0"/>
          </a:p>
        </p:txBody>
      </p:sp>
      <p:sp>
        <p:nvSpPr>
          <p:cNvPr id="11" name="Shape 9"/>
          <p:cNvSpPr/>
          <p:nvPr/>
        </p:nvSpPr>
        <p:spPr>
          <a:xfrm>
            <a:off x="7132320" y="1600200"/>
            <a:ext cx="4480560" cy="4297680"/>
          </a:xfrm>
          <a:prstGeom prst="rect">
            <a:avLst/>
          </a:prstGeom>
          <a:solidFill>
            <a:srgbClr val="10233A"/>
          </a:solidFill>
          <a:ln w="12700">
            <a:solidFill>
              <a:srgbClr val="8FA0B3"/>
            </a:solidFill>
            <a:prstDash val="dash"/>
          </a:ln>
        </p:spPr>
      </p:sp>
      <p:sp>
        <p:nvSpPr>
          <p:cNvPr id="12" name="Text 10"/>
          <p:cNvSpPr/>
          <p:nvPr/>
        </p:nvSpPr>
        <p:spPr>
          <a:xfrm>
            <a:off x="7269480" y="3474720"/>
            <a:ext cx="4206240" cy="548640"/>
          </a:xfrm>
          <a:prstGeom prst="rect">
            <a:avLst/>
          </a:prstGeom>
          <a:noFill/>
          <a:ln/>
        </p:spPr>
        <p:txBody>
          <a:bodyPr wrap="square" rtlCol="0" anchor="ctr"/>
          <a:lstStyle/>
          <a:p>
            <a:pPr algn="ctr" indent="0" marL="0">
              <a:buNone/>
            </a:pPr>
            <a:r>
              <a:rPr lang="en-US" sz="1100" i="1" dirty="0">
                <a:solidFill>
                  <a:srgbClr val="8FA0B3"/>
                </a:solidFill>
                <a:latin typeface="Arial" pitchFamily="34" charset="0"/>
                <a:ea typeface="Arial" pitchFamily="34" charset="-122"/>
                <a:cs typeface="Arial" pitchFamily="34" charset="-120"/>
              </a:rPr>
              <a:t>🖼  Information cycle wheel diagram</a:t>
            </a:r>
            <a:endParaRPr lang="en-US" sz="1100" dirty="0"/>
          </a:p>
        </p:txBody>
      </p:sp>
      <p:sp>
        <p:nvSpPr>
          <p:cNvPr id="13" name="Shape 11"/>
          <p:cNvSpPr/>
          <p:nvPr/>
        </p:nvSpPr>
        <p:spPr>
          <a:xfrm>
            <a:off x="0" y="6473952"/>
            <a:ext cx="12161520" cy="384048"/>
          </a:xfrm>
          <a:prstGeom prst="rect">
            <a:avLst/>
          </a:prstGeom>
          <a:solidFill>
            <a:srgbClr val="2E2148"/>
          </a:solidFill>
          <a:ln/>
        </p:spPr>
      </p:sp>
      <p:sp>
        <p:nvSpPr>
          <p:cNvPr id="14" name="Text 12"/>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SignalGate: Loose Lips…</a:t>
            </a:r>
            <a:endParaRPr lang="en-US" sz="2800" dirty="0"/>
          </a:p>
        </p:txBody>
      </p:sp>
      <p:sp>
        <p:nvSpPr>
          <p:cNvPr id="4" name="Shape 2"/>
          <p:cNvSpPr/>
          <p:nvPr/>
        </p:nvSpPr>
        <p:spPr>
          <a:xfrm>
            <a:off x="10195560" y="384048"/>
            <a:ext cx="1600200" cy="384048"/>
          </a:xfrm>
          <a:prstGeom prst="roundRect">
            <a:avLst>
              <a:gd name="adj" fmla="val 19048"/>
            </a:avLst>
          </a:prstGeom>
          <a:solidFill>
            <a:srgbClr val="D9695F"/>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CASE STUDY</a:t>
            </a:r>
            <a:endParaRPr lang="en-US" sz="1200" dirty="0"/>
          </a:p>
        </p:txBody>
      </p:sp>
      <p:sp>
        <p:nvSpPr>
          <p:cNvPr id="6" name="Text 4"/>
          <p:cNvSpPr/>
          <p:nvPr/>
        </p:nvSpPr>
        <p:spPr>
          <a:xfrm>
            <a:off x="548640" y="1508760"/>
            <a:ext cx="5120640" cy="1005840"/>
          </a:xfrm>
          <a:prstGeom prst="rect">
            <a:avLst/>
          </a:prstGeom>
          <a:noFill/>
          <a:ln/>
        </p:spPr>
        <p:txBody>
          <a:bodyPr wrap="square" rtlCol="0" anchor="ctr"/>
          <a:lstStyle/>
          <a:p>
            <a:pPr indent="0" marL="0">
              <a:buNone/>
            </a:pPr>
            <a:r>
              <a:rPr lang="en-US" sz="1500" b="1" i="1" dirty="0">
                <a:solidFill>
                  <a:srgbClr val="FFFFFF"/>
                </a:solidFill>
                <a:latin typeface="Arial" pitchFamily="34" charset="0"/>
                <a:ea typeface="Arial" pitchFamily="34" charset="-122"/>
                <a:cs typeface="Arial" pitchFamily="34" charset="-120"/>
              </a:rPr>
              <a:t>A single accidental invite cascaded into a national security exposure.</a:t>
            </a:r>
            <a:endParaRPr lang="en-US" sz="1500" dirty="0"/>
          </a:p>
        </p:txBody>
      </p:sp>
      <p:sp>
        <p:nvSpPr>
          <p:cNvPr id="7" name="Text 5"/>
          <p:cNvSpPr/>
          <p:nvPr/>
        </p:nvSpPr>
        <p:spPr>
          <a:xfrm>
            <a:off x="548640" y="2606040"/>
            <a:ext cx="5120640" cy="3108960"/>
          </a:xfrm>
          <a:prstGeom prst="rect">
            <a:avLst/>
          </a:prstGeom>
          <a:noFill/>
          <a:ln/>
        </p:spPr>
        <p:txBody>
          <a:bodyPr wrap="square" rtlCol="0" anchor="t"/>
          <a:lstStyle/>
          <a:p>
            <a:pPr indent="0" marL="0">
              <a:lnSpc>
                <a:spcPct val="125000"/>
              </a:lnSpc>
              <a:buNone/>
            </a:pPr>
            <a:r>
              <a:rPr lang="en-US" sz="1250" dirty="0">
                <a:solidFill>
                  <a:srgbClr val="C9D3DE"/>
                </a:solidFill>
                <a:latin typeface="Arial" pitchFamily="34" charset="0"/>
                <a:ea typeface="Arial" pitchFamily="34" charset="-122"/>
                <a:cs typeface="Arial" pitchFamily="34" charset="-120"/>
              </a:rPr>
              <a:t>A senior official's accidental addition of a journalist to a group chat on an unofficial, unapproved messaging app led to sensitive operational details being visible outside cleared channels. The subsequent compromise of the archiving tool used by that app converted a process failure into a full public disclosure. No hacking was required to start the chain — just an avoidable human error in tool selection and group management.</a:t>
            </a:r>
            <a:endParaRPr lang="en-US" sz="1250" dirty="0"/>
          </a:p>
        </p:txBody>
      </p:sp>
      <p:sp>
        <p:nvSpPr>
          <p:cNvPr id="8" name="Shape 6"/>
          <p:cNvSpPr/>
          <p:nvPr/>
        </p:nvSpPr>
        <p:spPr>
          <a:xfrm>
            <a:off x="6126480" y="1508760"/>
            <a:ext cx="5394960" cy="502920"/>
          </a:xfrm>
          <a:prstGeom prst="roundRect">
            <a:avLst>
              <a:gd name="adj" fmla="val 9091"/>
            </a:avLst>
          </a:prstGeom>
          <a:solidFill>
            <a:srgbClr val="0F2A45"/>
          </a:solidFill>
          <a:ln/>
        </p:spPr>
      </p:sp>
      <p:sp>
        <p:nvSpPr>
          <p:cNvPr id="9" name="Text 7"/>
          <p:cNvSpPr/>
          <p:nvPr/>
        </p:nvSpPr>
        <p:spPr>
          <a:xfrm>
            <a:off x="6355080" y="150876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Accidental invite starts cascade</a:t>
            </a:r>
            <a:endParaRPr lang="en-US" sz="1200" dirty="0"/>
          </a:p>
        </p:txBody>
      </p:sp>
      <p:sp>
        <p:nvSpPr>
          <p:cNvPr id="10" name="Text 8"/>
          <p:cNvSpPr/>
          <p:nvPr/>
        </p:nvSpPr>
        <p:spPr>
          <a:xfrm>
            <a:off x="6126480" y="1956816"/>
            <a:ext cx="5394960" cy="274320"/>
          </a:xfrm>
          <a:prstGeom prst="rect">
            <a:avLst/>
          </a:prstGeom>
          <a:noFill/>
          <a:ln/>
        </p:spPr>
        <p:txBody>
          <a:bodyPr wrap="square" rtlCol="0" anchor="ctr"/>
          <a:lstStyle/>
          <a:p>
            <a:pPr algn="ctr" indent="0" marL="0">
              <a:buNone/>
            </a:pPr>
            <a:r>
              <a:rPr lang="en-US" sz="1400" dirty="0">
                <a:solidFill>
                  <a:srgbClr val="E8A33D"/>
                </a:solidFill>
                <a:latin typeface="Arial" pitchFamily="34" charset="0"/>
                <a:ea typeface="Arial" pitchFamily="34" charset="-122"/>
                <a:cs typeface="Arial" pitchFamily="34" charset="-120"/>
              </a:rPr>
              <a:t>↓</a:t>
            </a:r>
            <a:endParaRPr lang="en-US" sz="1400" dirty="0"/>
          </a:p>
        </p:txBody>
      </p:sp>
      <p:sp>
        <p:nvSpPr>
          <p:cNvPr id="11" name="Shape 9"/>
          <p:cNvSpPr/>
          <p:nvPr/>
        </p:nvSpPr>
        <p:spPr>
          <a:xfrm>
            <a:off x="6126480" y="2286000"/>
            <a:ext cx="5394960" cy="502920"/>
          </a:xfrm>
          <a:prstGeom prst="roundRect">
            <a:avLst>
              <a:gd name="adj" fmla="val 9091"/>
            </a:avLst>
          </a:prstGeom>
          <a:solidFill>
            <a:srgbClr val="0F2A45"/>
          </a:solidFill>
          <a:ln/>
        </p:spPr>
      </p:sp>
      <p:sp>
        <p:nvSpPr>
          <p:cNvPr id="12" name="Text 10"/>
          <p:cNvSpPr/>
          <p:nvPr/>
        </p:nvSpPr>
        <p:spPr>
          <a:xfrm>
            <a:off x="6355080" y="228600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Unofficial messaging app use discovered</a:t>
            </a:r>
            <a:endParaRPr lang="en-US" sz="1200" dirty="0"/>
          </a:p>
        </p:txBody>
      </p:sp>
      <p:sp>
        <p:nvSpPr>
          <p:cNvPr id="13" name="Text 11"/>
          <p:cNvSpPr/>
          <p:nvPr/>
        </p:nvSpPr>
        <p:spPr>
          <a:xfrm>
            <a:off x="6126480" y="2734056"/>
            <a:ext cx="5394960" cy="274320"/>
          </a:xfrm>
          <a:prstGeom prst="rect">
            <a:avLst/>
          </a:prstGeom>
          <a:noFill/>
          <a:ln/>
        </p:spPr>
        <p:txBody>
          <a:bodyPr wrap="square" rtlCol="0" anchor="ctr"/>
          <a:lstStyle/>
          <a:p>
            <a:pPr algn="ctr" indent="0" marL="0">
              <a:buNone/>
            </a:pPr>
            <a:r>
              <a:rPr lang="en-US" sz="1400" dirty="0">
                <a:solidFill>
                  <a:srgbClr val="E8A33D"/>
                </a:solidFill>
                <a:latin typeface="Arial" pitchFamily="34" charset="0"/>
                <a:ea typeface="Arial" pitchFamily="34" charset="-122"/>
                <a:cs typeface="Arial" pitchFamily="34" charset="-120"/>
              </a:rPr>
              <a:t>↓</a:t>
            </a:r>
            <a:endParaRPr lang="en-US" sz="1400" dirty="0"/>
          </a:p>
        </p:txBody>
      </p:sp>
      <p:sp>
        <p:nvSpPr>
          <p:cNvPr id="14" name="Shape 12"/>
          <p:cNvSpPr/>
          <p:nvPr/>
        </p:nvSpPr>
        <p:spPr>
          <a:xfrm>
            <a:off x="6126480" y="3063240"/>
            <a:ext cx="5394960" cy="502920"/>
          </a:xfrm>
          <a:prstGeom prst="roundRect">
            <a:avLst>
              <a:gd name="adj" fmla="val 9091"/>
            </a:avLst>
          </a:prstGeom>
          <a:solidFill>
            <a:srgbClr val="0F2A45"/>
          </a:solidFill>
          <a:ln/>
        </p:spPr>
      </p:sp>
      <p:sp>
        <p:nvSpPr>
          <p:cNvPr id="15" name="Text 13"/>
          <p:cNvSpPr/>
          <p:nvPr/>
        </p:nvSpPr>
        <p:spPr>
          <a:xfrm>
            <a:off x="6355080" y="306324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Sensitive data shared in plaintext</a:t>
            </a:r>
            <a:endParaRPr lang="en-US" sz="1200" dirty="0"/>
          </a:p>
        </p:txBody>
      </p:sp>
      <p:sp>
        <p:nvSpPr>
          <p:cNvPr id="16" name="Text 14"/>
          <p:cNvSpPr/>
          <p:nvPr/>
        </p:nvSpPr>
        <p:spPr>
          <a:xfrm>
            <a:off x="6126480" y="3511296"/>
            <a:ext cx="5394960" cy="274320"/>
          </a:xfrm>
          <a:prstGeom prst="rect">
            <a:avLst/>
          </a:prstGeom>
          <a:noFill/>
          <a:ln/>
        </p:spPr>
        <p:txBody>
          <a:bodyPr wrap="square" rtlCol="0" anchor="ctr"/>
          <a:lstStyle/>
          <a:p>
            <a:pPr algn="ctr" indent="0" marL="0">
              <a:buNone/>
            </a:pPr>
            <a:r>
              <a:rPr lang="en-US" sz="1400" dirty="0">
                <a:solidFill>
                  <a:srgbClr val="E8A33D"/>
                </a:solidFill>
                <a:latin typeface="Arial" pitchFamily="34" charset="0"/>
                <a:ea typeface="Arial" pitchFamily="34" charset="-122"/>
                <a:cs typeface="Arial" pitchFamily="34" charset="-120"/>
              </a:rPr>
              <a:t>↓</a:t>
            </a:r>
            <a:endParaRPr lang="en-US" sz="1400" dirty="0"/>
          </a:p>
        </p:txBody>
      </p:sp>
      <p:sp>
        <p:nvSpPr>
          <p:cNvPr id="17" name="Shape 15"/>
          <p:cNvSpPr/>
          <p:nvPr/>
        </p:nvSpPr>
        <p:spPr>
          <a:xfrm>
            <a:off x="6126480" y="3840480"/>
            <a:ext cx="5394960" cy="502920"/>
          </a:xfrm>
          <a:prstGeom prst="roundRect">
            <a:avLst>
              <a:gd name="adj" fmla="val 9091"/>
            </a:avLst>
          </a:prstGeom>
          <a:solidFill>
            <a:srgbClr val="0F2A45"/>
          </a:solidFill>
          <a:ln/>
        </p:spPr>
      </p:sp>
      <p:sp>
        <p:nvSpPr>
          <p:cNvPr id="18" name="Text 16"/>
          <p:cNvSpPr/>
          <p:nvPr/>
        </p:nvSpPr>
        <p:spPr>
          <a:xfrm>
            <a:off x="6355080" y="384048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TeleMessage hacked</a:t>
            </a:r>
            <a:endParaRPr lang="en-US" sz="1200" dirty="0"/>
          </a:p>
        </p:txBody>
      </p:sp>
      <p:sp>
        <p:nvSpPr>
          <p:cNvPr id="19" name="Text 17"/>
          <p:cNvSpPr/>
          <p:nvPr/>
        </p:nvSpPr>
        <p:spPr>
          <a:xfrm>
            <a:off x="6126480" y="4288536"/>
            <a:ext cx="5394960" cy="274320"/>
          </a:xfrm>
          <a:prstGeom prst="rect">
            <a:avLst/>
          </a:prstGeom>
          <a:noFill/>
          <a:ln/>
        </p:spPr>
        <p:txBody>
          <a:bodyPr wrap="square" rtlCol="0" anchor="ctr"/>
          <a:lstStyle/>
          <a:p>
            <a:pPr algn="ctr" indent="0" marL="0">
              <a:buNone/>
            </a:pPr>
            <a:r>
              <a:rPr lang="en-US" sz="1400" dirty="0">
                <a:solidFill>
                  <a:srgbClr val="E8A33D"/>
                </a:solidFill>
                <a:latin typeface="Arial" pitchFamily="34" charset="0"/>
                <a:ea typeface="Arial" pitchFamily="34" charset="-122"/>
                <a:cs typeface="Arial" pitchFamily="34" charset="-120"/>
              </a:rPr>
              <a:t>↓</a:t>
            </a:r>
            <a:endParaRPr lang="en-US" sz="1400" dirty="0"/>
          </a:p>
        </p:txBody>
      </p:sp>
      <p:sp>
        <p:nvSpPr>
          <p:cNvPr id="20" name="Shape 18"/>
          <p:cNvSpPr/>
          <p:nvPr/>
        </p:nvSpPr>
        <p:spPr>
          <a:xfrm>
            <a:off x="6126480" y="4617720"/>
            <a:ext cx="5394960" cy="502920"/>
          </a:xfrm>
          <a:prstGeom prst="roundRect">
            <a:avLst>
              <a:gd name="adj" fmla="val 9091"/>
            </a:avLst>
          </a:prstGeom>
          <a:solidFill>
            <a:srgbClr val="0F2A45"/>
          </a:solidFill>
          <a:ln/>
        </p:spPr>
      </p:sp>
      <p:sp>
        <p:nvSpPr>
          <p:cNvPr id="21" name="Text 19"/>
          <p:cNvSpPr/>
          <p:nvPr/>
        </p:nvSpPr>
        <p:spPr>
          <a:xfrm>
            <a:off x="6355080" y="461772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Media reports leaked messages</a:t>
            </a:r>
            <a:endParaRPr lang="en-US" sz="1200" dirty="0"/>
          </a:p>
        </p:txBody>
      </p:sp>
      <p:sp>
        <p:nvSpPr>
          <p:cNvPr id="22" name="Text 20"/>
          <p:cNvSpPr/>
          <p:nvPr/>
        </p:nvSpPr>
        <p:spPr>
          <a:xfrm>
            <a:off x="6126480" y="5065776"/>
            <a:ext cx="5394960" cy="274320"/>
          </a:xfrm>
          <a:prstGeom prst="rect">
            <a:avLst/>
          </a:prstGeom>
          <a:noFill/>
          <a:ln/>
        </p:spPr>
        <p:txBody>
          <a:bodyPr wrap="square" rtlCol="0" anchor="ctr"/>
          <a:lstStyle/>
          <a:p>
            <a:pPr algn="ctr" indent="0" marL="0">
              <a:buNone/>
            </a:pPr>
            <a:r>
              <a:rPr lang="en-US" sz="1400" dirty="0">
                <a:solidFill>
                  <a:srgbClr val="E8A33D"/>
                </a:solidFill>
                <a:latin typeface="Arial" pitchFamily="34" charset="0"/>
                <a:ea typeface="Arial" pitchFamily="34" charset="-122"/>
                <a:cs typeface="Arial" pitchFamily="34" charset="-120"/>
              </a:rPr>
              <a:t>↓</a:t>
            </a:r>
            <a:endParaRPr lang="en-US" sz="1400" dirty="0"/>
          </a:p>
        </p:txBody>
      </p:sp>
      <p:sp>
        <p:nvSpPr>
          <p:cNvPr id="23" name="Shape 21"/>
          <p:cNvSpPr/>
          <p:nvPr/>
        </p:nvSpPr>
        <p:spPr>
          <a:xfrm>
            <a:off x="6126480" y="5394960"/>
            <a:ext cx="5394960" cy="502920"/>
          </a:xfrm>
          <a:prstGeom prst="roundRect">
            <a:avLst>
              <a:gd name="adj" fmla="val 9091"/>
            </a:avLst>
          </a:prstGeom>
          <a:solidFill>
            <a:srgbClr val="0F2A45"/>
          </a:solidFill>
          <a:ln/>
        </p:spPr>
      </p:sp>
      <p:sp>
        <p:nvSpPr>
          <p:cNvPr id="24" name="Text 22"/>
          <p:cNvSpPr/>
          <p:nvPr/>
        </p:nvSpPr>
        <p:spPr>
          <a:xfrm>
            <a:off x="6355080" y="539496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Public exposure</a:t>
            </a:r>
            <a:endParaRPr lang="en-US" sz="1200" dirty="0"/>
          </a:p>
        </p:txBody>
      </p:sp>
      <p:sp>
        <p:nvSpPr>
          <p:cNvPr id="25" name="Shape 23"/>
          <p:cNvSpPr/>
          <p:nvPr/>
        </p:nvSpPr>
        <p:spPr>
          <a:xfrm>
            <a:off x="6126480" y="6035040"/>
            <a:ext cx="5394960" cy="274320"/>
          </a:xfrm>
          <a:prstGeom prst="rect">
            <a:avLst/>
          </a:prstGeom>
          <a:solidFill>
            <a:srgbClr val="10233A"/>
          </a:solidFill>
          <a:ln w="12700">
            <a:solidFill>
              <a:srgbClr val="8FA0B3"/>
            </a:solidFill>
            <a:prstDash val="dash"/>
          </a:ln>
        </p:spPr>
      </p:sp>
      <p:sp>
        <p:nvSpPr>
          <p:cNvPr id="26" name="Text 24"/>
          <p:cNvSpPr/>
          <p:nvPr/>
        </p:nvSpPr>
        <p:spPr>
          <a:xfrm>
            <a:off x="6263640" y="5897880"/>
            <a:ext cx="5120640" cy="548640"/>
          </a:xfrm>
          <a:prstGeom prst="rect">
            <a:avLst/>
          </a:prstGeom>
          <a:noFill/>
          <a:ln/>
        </p:spPr>
        <p:txBody>
          <a:bodyPr wrap="square" rtlCol="0" anchor="ctr"/>
          <a:lstStyle/>
          <a:p>
            <a:pPr algn="ctr" indent="0" marL="0">
              <a:buNone/>
            </a:pPr>
            <a:r>
              <a:rPr lang="en-US" sz="1100" i="1" dirty="0">
                <a:solidFill>
                  <a:srgbClr val="8FA0B3"/>
                </a:solidFill>
                <a:latin typeface="Arial" pitchFamily="34" charset="0"/>
                <a:ea typeface="Arial" pitchFamily="34" charset="-122"/>
                <a:cs typeface="Arial" pitchFamily="34" charset="-120"/>
              </a:rPr>
              <a:t>🖼  Screenshot / infographic of the SignalGate reporting timeline</a:t>
            </a:r>
            <a:endParaRPr lang="en-US" sz="1100" dirty="0"/>
          </a:p>
        </p:txBody>
      </p:sp>
      <p:sp>
        <p:nvSpPr>
          <p:cNvPr id="27" name="Shape 25"/>
          <p:cNvSpPr/>
          <p:nvPr/>
        </p:nvSpPr>
        <p:spPr>
          <a:xfrm>
            <a:off x="0" y="6473952"/>
            <a:ext cx="12161520" cy="384048"/>
          </a:xfrm>
          <a:prstGeom prst="rect">
            <a:avLst/>
          </a:prstGeom>
          <a:solidFill>
            <a:srgbClr val="2E2148"/>
          </a:solidFill>
          <a:ln/>
        </p:spPr>
      </p:sp>
      <p:sp>
        <p:nvSpPr>
          <p:cNvPr id="28" name="Text 26"/>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PLA Cyberspace Force at Fiery Cross Reef</a:t>
            </a:r>
            <a:endParaRPr lang="en-US" sz="2800" dirty="0"/>
          </a:p>
        </p:txBody>
      </p:sp>
      <p:sp>
        <p:nvSpPr>
          <p:cNvPr id="4" name="Shape 2"/>
          <p:cNvSpPr/>
          <p:nvPr/>
        </p:nvSpPr>
        <p:spPr>
          <a:xfrm>
            <a:off x="10195560" y="384048"/>
            <a:ext cx="1600200" cy="384048"/>
          </a:xfrm>
          <a:prstGeom prst="roundRect">
            <a:avLst>
              <a:gd name="adj" fmla="val 19048"/>
            </a:avLst>
          </a:prstGeom>
          <a:solidFill>
            <a:srgbClr val="D9695F"/>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CASE STUDY</a:t>
            </a:r>
            <a:endParaRPr lang="en-US" sz="1200" dirty="0"/>
          </a:p>
        </p:txBody>
      </p:sp>
      <p:sp>
        <p:nvSpPr>
          <p:cNvPr id="6" name="Text 4"/>
          <p:cNvSpPr/>
          <p:nvPr/>
        </p:nvSpPr>
        <p:spPr>
          <a:xfrm>
            <a:off x="548640" y="1508760"/>
            <a:ext cx="5120640" cy="1005840"/>
          </a:xfrm>
          <a:prstGeom prst="rect">
            <a:avLst/>
          </a:prstGeom>
          <a:noFill/>
          <a:ln/>
        </p:spPr>
        <p:txBody>
          <a:bodyPr wrap="square" rtlCol="0" anchor="ctr"/>
          <a:lstStyle/>
          <a:p>
            <a:pPr indent="0" marL="0">
              <a:buNone/>
            </a:pPr>
            <a:r>
              <a:rPr lang="en-US" sz="1500" b="1" i="1" dirty="0">
                <a:solidFill>
                  <a:srgbClr val="FFFFFF"/>
                </a:solidFill>
                <a:latin typeface="Arial" pitchFamily="34" charset="0"/>
                <a:ea typeface="Arial" pitchFamily="34" charset="-122"/>
                <a:cs typeface="Arial" pitchFamily="34" charset="-120"/>
              </a:rPr>
              <a:t>The camera didn't lie — an official broadcast did the exposing.</a:t>
            </a:r>
            <a:endParaRPr lang="en-US" sz="1500" dirty="0"/>
          </a:p>
        </p:txBody>
      </p:sp>
      <p:sp>
        <p:nvSpPr>
          <p:cNvPr id="7" name="Text 5"/>
          <p:cNvSpPr/>
          <p:nvPr/>
        </p:nvSpPr>
        <p:spPr>
          <a:xfrm>
            <a:off x="548640" y="2606040"/>
            <a:ext cx="5120640" cy="3108960"/>
          </a:xfrm>
          <a:prstGeom prst="rect">
            <a:avLst/>
          </a:prstGeom>
          <a:noFill/>
          <a:ln/>
        </p:spPr>
        <p:txBody>
          <a:bodyPr wrap="square" rtlCol="0" anchor="t"/>
          <a:lstStyle/>
          <a:p>
            <a:pPr indent="0" marL="0">
              <a:lnSpc>
                <a:spcPct val="125000"/>
              </a:lnSpc>
              <a:buNone/>
            </a:pPr>
            <a:r>
              <a:rPr lang="en-US" sz="1250" dirty="0">
                <a:solidFill>
                  <a:srgbClr val="C9D3DE"/>
                </a:solidFill>
                <a:latin typeface="Arial" pitchFamily="34" charset="0"/>
                <a:ea typeface="Arial" pitchFamily="34" charset="-122"/>
                <a:cs typeface="Arial" pitchFamily="34" charset="-120"/>
              </a:rPr>
              <a:t>A Lunar New Year video message inadvertently revealed a PLA Cyberspace Force unit stationed at a contested reef in the Spratly Islands — placing state cyber operators near undersea cable infrastructure and regional telecom nodes serving multiple allied nations. No breach, no leak, no adversary tradecraft: a state's own official media did the exposing. Lesson for analysts: official propaganda is a legitimate OSINT source, not something to dismiss as "just messaging."</a:t>
            </a:r>
            <a:endParaRPr lang="en-US" sz="1250" dirty="0"/>
          </a:p>
        </p:txBody>
      </p:sp>
      <p:sp>
        <p:nvSpPr>
          <p:cNvPr id="8" name="Shape 6"/>
          <p:cNvSpPr/>
          <p:nvPr/>
        </p:nvSpPr>
        <p:spPr>
          <a:xfrm>
            <a:off x="6126480" y="1508760"/>
            <a:ext cx="5394960" cy="502920"/>
          </a:xfrm>
          <a:prstGeom prst="roundRect">
            <a:avLst>
              <a:gd name="adj" fmla="val 9091"/>
            </a:avLst>
          </a:prstGeom>
          <a:solidFill>
            <a:srgbClr val="0F2A45"/>
          </a:solidFill>
          <a:ln/>
        </p:spPr>
      </p:sp>
      <p:sp>
        <p:nvSpPr>
          <p:cNvPr id="9" name="Text 7"/>
          <p:cNvSpPr/>
          <p:nvPr/>
        </p:nvSpPr>
        <p:spPr>
          <a:xfrm>
            <a:off x="6355080" y="150876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Official propaganda video released</a:t>
            </a:r>
            <a:endParaRPr lang="en-US" sz="1200" dirty="0"/>
          </a:p>
        </p:txBody>
      </p:sp>
      <p:sp>
        <p:nvSpPr>
          <p:cNvPr id="10" name="Text 8"/>
          <p:cNvSpPr/>
          <p:nvPr/>
        </p:nvSpPr>
        <p:spPr>
          <a:xfrm>
            <a:off x="6126480" y="1956816"/>
            <a:ext cx="5394960" cy="274320"/>
          </a:xfrm>
          <a:prstGeom prst="rect">
            <a:avLst/>
          </a:prstGeom>
          <a:noFill/>
          <a:ln/>
        </p:spPr>
        <p:txBody>
          <a:bodyPr wrap="square" rtlCol="0" anchor="ctr"/>
          <a:lstStyle/>
          <a:p>
            <a:pPr algn="ctr" indent="0" marL="0">
              <a:buNone/>
            </a:pPr>
            <a:r>
              <a:rPr lang="en-US" sz="1400" dirty="0">
                <a:solidFill>
                  <a:srgbClr val="E8A33D"/>
                </a:solidFill>
                <a:latin typeface="Arial" pitchFamily="34" charset="0"/>
                <a:ea typeface="Arial" pitchFamily="34" charset="-122"/>
                <a:cs typeface="Arial" pitchFamily="34" charset="-120"/>
              </a:rPr>
              <a:t>↓</a:t>
            </a:r>
            <a:endParaRPr lang="en-US" sz="1400" dirty="0"/>
          </a:p>
        </p:txBody>
      </p:sp>
      <p:sp>
        <p:nvSpPr>
          <p:cNvPr id="11" name="Shape 9"/>
          <p:cNvSpPr/>
          <p:nvPr/>
        </p:nvSpPr>
        <p:spPr>
          <a:xfrm>
            <a:off x="6126480" y="2286000"/>
            <a:ext cx="5394960" cy="502920"/>
          </a:xfrm>
          <a:prstGeom prst="roundRect">
            <a:avLst>
              <a:gd name="adj" fmla="val 9091"/>
            </a:avLst>
          </a:prstGeom>
          <a:solidFill>
            <a:srgbClr val="0F2A45"/>
          </a:solidFill>
          <a:ln/>
        </p:spPr>
      </p:sp>
      <p:sp>
        <p:nvSpPr>
          <p:cNvPr id="12" name="Text 10"/>
          <p:cNvSpPr/>
          <p:nvPr/>
        </p:nvSpPr>
        <p:spPr>
          <a:xfrm>
            <a:off x="6355080" y="228600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Analysts review the broadcast</a:t>
            </a:r>
            <a:endParaRPr lang="en-US" sz="1200" dirty="0"/>
          </a:p>
        </p:txBody>
      </p:sp>
      <p:sp>
        <p:nvSpPr>
          <p:cNvPr id="13" name="Text 11"/>
          <p:cNvSpPr/>
          <p:nvPr/>
        </p:nvSpPr>
        <p:spPr>
          <a:xfrm>
            <a:off x="6126480" y="2734056"/>
            <a:ext cx="5394960" cy="274320"/>
          </a:xfrm>
          <a:prstGeom prst="rect">
            <a:avLst/>
          </a:prstGeom>
          <a:noFill/>
          <a:ln/>
        </p:spPr>
        <p:txBody>
          <a:bodyPr wrap="square" rtlCol="0" anchor="ctr"/>
          <a:lstStyle/>
          <a:p>
            <a:pPr algn="ctr" indent="0" marL="0">
              <a:buNone/>
            </a:pPr>
            <a:r>
              <a:rPr lang="en-US" sz="1400" dirty="0">
                <a:solidFill>
                  <a:srgbClr val="E8A33D"/>
                </a:solidFill>
                <a:latin typeface="Arial" pitchFamily="34" charset="0"/>
                <a:ea typeface="Arial" pitchFamily="34" charset="-122"/>
                <a:cs typeface="Arial" pitchFamily="34" charset="-120"/>
              </a:rPr>
              <a:t>↓</a:t>
            </a:r>
            <a:endParaRPr lang="en-US" sz="1400" dirty="0"/>
          </a:p>
        </p:txBody>
      </p:sp>
      <p:sp>
        <p:nvSpPr>
          <p:cNvPr id="14" name="Shape 12"/>
          <p:cNvSpPr/>
          <p:nvPr/>
        </p:nvSpPr>
        <p:spPr>
          <a:xfrm>
            <a:off x="6126480" y="3063240"/>
            <a:ext cx="5394960" cy="502920"/>
          </a:xfrm>
          <a:prstGeom prst="roundRect">
            <a:avLst>
              <a:gd name="adj" fmla="val 9091"/>
            </a:avLst>
          </a:prstGeom>
          <a:solidFill>
            <a:srgbClr val="0F2A45"/>
          </a:solidFill>
          <a:ln/>
        </p:spPr>
      </p:sp>
      <p:sp>
        <p:nvSpPr>
          <p:cNvPr id="15" name="Text 13"/>
          <p:cNvSpPr/>
          <p:nvPr/>
        </p:nvSpPr>
        <p:spPr>
          <a:xfrm>
            <a:off x="6355080" y="306324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Unit insignia &amp; location identified</a:t>
            </a:r>
            <a:endParaRPr lang="en-US" sz="1200" dirty="0"/>
          </a:p>
        </p:txBody>
      </p:sp>
      <p:sp>
        <p:nvSpPr>
          <p:cNvPr id="16" name="Text 14"/>
          <p:cNvSpPr/>
          <p:nvPr/>
        </p:nvSpPr>
        <p:spPr>
          <a:xfrm>
            <a:off x="6126480" y="3511296"/>
            <a:ext cx="5394960" cy="274320"/>
          </a:xfrm>
          <a:prstGeom prst="rect">
            <a:avLst/>
          </a:prstGeom>
          <a:noFill/>
          <a:ln/>
        </p:spPr>
        <p:txBody>
          <a:bodyPr wrap="square" rtlCol="0" anchor="ctr"/>
          <a:lstStyle/>
          <a:p>
            <a:pPr algn="ctr" indent="0" marL="0">
              <a:buNone/>
            </a:pPr>
            <a:r>
              <a:rPr lang="en-US" sz="1400" dirty="0">
                <a:solidFill>
                  <a:srgbClr val="E8A33D"/>
                </a:solidFill>
                <a:latin typeface="Arial" pitchFamily="34" charset="0"/>
                <a:ea typeface="Arial" pitchFamily="34" charset="-122"/>
                <a:cs typeface="Arial" pitchFamily="34" charset="-120"/>
              </a:rPr>
              <a:t>↓</a:t>
            </a:r>
            <a:endParaRPr lang="en-US" sz="1400" dirty="0"/>
          </a:p>
        </p:txBody>
      </p:sp>
      <p:sp>
        <p:nvSpPr>
          <p:cNvPr id="17" name="Shape 15"/>
          <p:cNvSpPr/>
          <p:nvPr/>
        </p:nvSpPr>
        <p:spPr>
          <a:xfrm>
            <a:off x="6126480" y="3840480"/>
            <a:ext cx="5394960" cy="502920"/>
          </a:xfrm>
          <a:prstGeom prst="roundRect">
            <a:avLst>
              <a:gd name="adj" fmla="val 9091"/>
            </a:avLst>
          </a:prstGeom>
          <a:solidFill>
            <a:srgbClr val="0F2A45"/>
          </a:solidFill>
          <a:ln/>
        </p:spPr>
      </p:sp>
      <p:sp>
        <p:nvSpPr>
          <p:cNvPr id="18" name="Text 16"/>
          <p:cNvSpPr/>
          <p:nvPr/>
        </p:nvSpPr>
        <p:spPr>
          <a:xfrm>
            <a:off x="6355080" y="384048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Cyberspace Force presence confirmed</a:t>
            </a:r>
            <a:endParaRPr lang="en-US" sz="1200" dirty="0"/>
          </a:p>
        </p:txBody>
      </p:sp>
      <p:sp>
        <p:nvSpPr>
          <p:cNvPr id="19" name="Text 17"/>
          <p:cNvSpPr/>
          <p:nvPr/>
        </p:nvSpPr>
        <p:spPr>
          <a:xfrm>
            <a:off x="6126480" y="4288536"/>
            <a:ext cx="5394960" cy="274320"/>
          </a:xfrm>
          <a:prstGeom prst="rect">
            <a:avLst/>
          </a:prstGeom>
          <a:noFill/>
          <a:ln/>
        </p:spPr>
        <p:txBody>
          <a:bodyPr wrap="square" rtlCol="0" anchor="ctr"/>
          <a:lstStyle/>
          <a:p>
            <a:pPr algn="ctr" indent="0" marL="0">
              <a:buNone/>
            </a:pPr>
            <a:r>
              <a:rPr lang="en-US" sz="1400" dirty="0">
                <a:solidFill>
                  <a:srgbClr val="E8A33D"/>
                </a:solidFill>
                <a:latin typeface="Arial" pitchFamily="34" charset="0"/>
                <a:ea typeface="Arial" pitchFamily="34" charset="-122"/>
                <a:cs typeface="Arial" pitchFamily="34" charset="-120"/>
              </a:rPr>
              <a:t>↓</a:t>
            </a:r>
            <a:endParaRPr lang="en-US" sz="1400" dirty="0"/>
          </a:p>
        </p:txBody>
      </p:sp>
      <p:sp>
        <p:nvSpPr>
          <p:cNvPr id="20" name="Shape 18"/>
          <p:cNvSpPr/>
          <p:nvPr/>
        </p:nvSpPr>
        <p:spPr>
          <a:xfrm>
            <a:off x="6126480" y="4617720"/>
            <a:ext cx="5394960" cy="502920"/>
          </a:xfrm>
          <a:prstGeom prst="roundRect">
            <a:avLst>
              <a:gd name="adj" fmla="val 9091"/>
            </a:avLst>
          </a:prstGeom>
          <a:solidFill>
            <a:srgbClr val="0F2A45"/>
          </a:solidFill>
          <a:ln/>
        </p:spPr>
      </p:sp>
      <p:sp>
        <p:nvSpPr>
          <p:cNvPr id="21" name="Text 19"/>
          <p:cNvSpPr/>
          <p:nvPr/>
        </p:nvSpPr>
        <p:spPr>
          <a:xfrm>
            <a:off x="6355080" y="461772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Proximity to undersea cables flagged</a:t>
            </a:r>
            <a:endParaRPr lang="en-US" sz="1200" dirty="0"/>
          </a:p>
        </p:txBody>
      </p:sp>
      <p:sp>
        <p:nvSpPr>
          <p:cNvPr id="22" name="Shape 20"/>
          <p:cNvSpPr/>
          <p:nvPr/>
        </p:nvSpPr>
        <p:spPr>
          <a:xfrm>
            <a:off x="6126480" y="5257800"/>
            <a:ext cx="5394960" cy="1051560"/>
          </a:xfrm>
          <a:prstGeom prst="rect">
            <a:avLst/>
          </a:prstGeom>
          <a:solidFill>
            <a:srgbClr val="10233A"/>
          </a:solidFill>
          <a:ln w="12700">
            <a:solidFill>
              <a:srgbClr val="8FA0B3"/>
            </a:solidFill>
            <a:prstDash val="dash"/>
          </a:ln>
        </p:spPr>
      </p:sp>
      <p:sp>
        <p:nvSpPr>
          <p:cNvPr id="23" name="Text 21"/>
          <p:cNvSpPr/>
          <p:nvPr/>
        </p:nvSpPr>
        <p:spPr>
          <a:xfrm>
            <a:off x="6263640" y="5509260"/>
            <a:ext cx="5120640" cy="548640"/>
          </a:xfrm>
          <a:prstGeom prst="rect">
            <a:avLst/>
          </a:prstGeom>
          <a:noFill/>
          <a:ln/>
        </p:spPr>
        <p:txBody>
          <a:bodyPr wrap="square" rtlCol="0" anchor="ctr"/>
          <a:lstStyle/>
          <a:p>
            <a:pPr algn="ctr" indent="0" marL="0">
              <a:buNone/>
            </a:pPr>
            <a:r>
              <a:rPr lang="en-US" sz="1100" i="1" dirty="0">
                <a:solidFill>
                  <a:srgbClr val="8FA0B3"/>
                </a:solidFill>
                <a:latin typeface="Arial" pitchFamily="34" charset="0"/>
                <a:ea typeface="Arial" pitchFamily="34" charset="-122"/>
                <a:cs typeface="Arial" pitchFamily="34" charset="-120"/>
              </a:rPr>
              <a:t>🖼  Frame grab from the official broadcast + geolocation annotation</a:t>
            </a:r>
            <a:endParaRPr lang="en-US" sz="1100" dirty="0"/>
          </a:p>
        </p:txBody>
      </p:sp>
      <p:sp>
        <p:nvSpPr>
          <p:cNvPr id="24" name="Shape 22"/>
          <p:cNvSpPr/>
          <p:nvPr/>
        </p:nvSpPr>
        <p:spPr>
          <a:xfrm>
            <a:off x="0" y="6473952"/>
            <a:ext cx="12161520" cy="384048"/>
          </a:xfrm>
          <a:prstGeom prst="rect">
            <a:avLst/>
          </a:prstGeom>
          <a:solidFill>
            <a:srgbClr val="2E2148"/>
          </a:solidFill>
          <a:ln/>
        </p:spPr>
      </p:sp>
      <p:sp>
        <p:nvSpPr>
          <p:cNvPr id="25" name="Text 23"/>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420"/>
        </a:solidFill>
      </p:bgPr>
    </p:bg>
    <p:spTree>
      <p:nvGrpSpPr>
        <p:cNvPr id="1" name=""/>
        <p:cNvGrpSpPr/>
        <p:nvPr/>
      </p:nvGrpSpPr>
      <p:grpSpPr>
        <a:xfrm>
          <a:off x="0" y="0"/>
          <a:ext cx="0" cy="0"/>
          <a:chOff x="0" y="0"/>
          <a:chExt cx="0" cy="0"/>
        </a:xfrm>
      </p:grpSpPr>
      <p:sp>
        <p:nvSpPr>
          <p:cNvPr id="2" name="Text 0"/>
          <p:cNvSpPr/>
          <p:nvPr/>
        </p:nvSpPr>
        <p:spPr>
          <a:xfrm>
            <a:off x="640080" y="2331720"/>
            <a:ext cx="7315200" cy="457200"/>
          </a:xfrm>
          <a:prstGeom prst="rect">
            <a:avLst/>
          </a:prstGeom>
          <a:noFill/>
          <a:ln/>
        </p:spPr>
        <p:txBody>
          <a:bodyPr wrap="square" rtlCol="0" anchor="ctr"/>
          <a:lstStyle/>
          <a:p>
            <a:pPr indent="0" marL="0">
              <a:buNone/>
            </a:pPr>
            <a:r>
              <a:rPr lang="en-US" sz="1400" b="1" spc="200" kern="0" dirty="0">
                <a:solidFill>
                  <a:srgbClr val="E8A33D"/>
                </a:solidFill>
                <a:latin typeface="Arial" pitchFamily="34" charset="0"/>
                <a:ea typeface="Arial" pitchFamily="34" charset="-122"/>
                <a:cs typeface="Arial" pitchFamily="34" charset="-120"/>
              </a:rPr>
              <a:t>SEGMENT 2</a:t>
            </a:r>
            <a:endParaRPr lang="en-US" sz="1400" dirty="0"/>
          </a:p>
        </p:txBody>
      </p:sp>
      <p:sp>
        <p:nvSpPr>
          <p:cNvPr id="3" name="Text 1"/>
          <p:cNvSpPr/>
          <p:nvPr/>
        </p:nvSpPr>
        <p:spPr>
          <a:xfrm>
            <a:off x="640080" y="2743200"/>
            <a:ext cx="10515600" cy="1005840"/>
          </a:xfrm>
          <a:prstGeom prst="rect">
            <a:avLst/>
          </a:prstGeom>
          <a:noFill/>
          <a:ln/>
        </p:spPr>
        <p:txBody>
          <a:bodyPr wrap="square" rtlCol="0" anchor="ctr"/>
          <a:lstStyle/>
          <a:p>
            <a:pPr indent="0" marL="0">
              <a:buNone/>
            </a:pPr>
            <a:r>
              <a:rPr lang="en-US" sz="4200" b="1" dirty="0">
                <a:solidFill>
                  <a:srgbClr val="FFFFFF"/>
                </a:solidFill>
                <a:latin typeface="Arial" pitchFamily="34" charset="0"/>
                <a:ea typeface="Arial" pitchFamily="34" charset="-122"/>
                <a:cs typeface="Arial" pitchFamily="34" charset="-120"/>
              </a:rPr>
              <a:t>Google Dorking</a:t>
            </a:r>
            <a:endParaRPr lang="en-US" sz="4200" dirty="0"/>
          </a:p>
        </p:txBody>
      </p:sp>
      <p:sp>
        <p:nvSpPr>
          <p:cNvPr id="4" name="Text 2"/>
          <p:cNvSpPr/>
          <p:nvPr/>
        </p:nvSpPr>
        <p:spPr>
          <a:xfrm>
            <a:off x="640080" y="3703320"/>
            <a:ext cx="9601200" cy="457200"/>
          </a:xfrm>
          <a:prstGeom prst="rect">
            <a:avLst/>
          </a:prstGeom>
          <a:noFill/>
          <a:ln/>
        </p:spPr>
        <p:txBody>
          <a:bodyPr wrap="square" rtlCol="0" anchor="ctr"/>
          <a:lstStyle/>
          <a:p>
            <a:pPr indent="0" marL="0">
              <a:buNone/>
            </a:pPr>
            <a:r>
              <a:rPr lang="en-US" sz="1400" i="1" dirty="0">
                <a:solidFill>
                  <a:srgbClr val="C9D3DE"/>
                </a:solidFill>
                <a:latin typeface="Arial" pitchFamily="34" charset="0"/>
                <a:ea typeface="Arial" pitchFamily="34" charset="-122"/>
                <a:cs typeface="Arial" pitchFamily="34" charset="-120"/>
              </a:rPr>
              <a:t>Operators, then live — instructor laptop, real internet</a:t>
            </a:r>
            <a:endParaRPr lang="en-US" sz="1400" dirty="0"/>
          </a:p>
        </p:txBody>
      </p:sp>
      <p:sp>
        <p:nvSpPr>
          <p:cNvPr id="5" name="Shape 3"/>
          <p:cNvSpPr/>
          <p:nvPr/>
        </p:nvSpPr>
        <p:spPr>
          <a:xfrm>
            <a:off x="10195560" y="384048"/>
            <a:ext cx="1600200" cy="384048"/>
          </a:xfrm>
          <a:prstGeom prst="roundRect">
            <a:avLst>
              <a:gd name="adj" fmla="val 19048"/>
            </a:avLst>
          </a:prstGeom>
          <a:solidFill>
            <a:srgbClr val="E8A33D"/>
          </a:solidFill>
          <a:ln/>
        </p:spPr>
      </p:sp>
      <p:sp>
        <p:nvSpPr>
          <p:cNvPr id="6" name="Text 4"/>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CONCEPT + DEMO</a:t>
            </a:r>
            <a:endParaRPr lang="en-US" sz="1200" dirty="0"/>
          </a:p>
        </p:txBody>
      </p:sp>
      <p:sp>
        <p:nvSpPr>
          <p:cNvPr id="7" name="Shape 5"/>
          <p:cNvSpPr/>
          <p:nvPr/>
        </p:nvSpPr>
        <p:spPr>
          <a:xfrm>
            <a:off x="0" y="6473952"/>
            <a:ext cx="12161520" cy="384048"/>
          </a:xfrm>
          <a:prstGeom prst="rect">
            <a:avLst/>
          </a:prstGeom>
          <a:solidFill>
            <a:srgbClr val="2E2148"/>
          </a:solidFill>
          <a:ln/>
        </p:spPr>
      </p:sp>
      <p:sp>
        <p:nvSpPr>
          <p:cNvPr id="8" name="Text 6"/>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Google Dorking — Core Operators</a:t>
            </a:r>
            <a:endParaRPr lang="en-US" sz="2800" dirty="0"/>
          </a:p>
        </p:txBody>
      </p:sp>
      <p:sp>
        <p:nvSpPr>
          <p:cNvPr id="4" name="Shape 2"/>
          <p:cNvSpPr/>
          <p:nvPr/>
        </p:nvSpPr>
        <p:spPr>
          <a:xfrm>
            <a:off x="10195560" y="384048"/>
            <a:ext cx="1600200" cy="384048"/>
          </a:xfrm>
          <a:prstGeom prst="roundRect">
            <a:avLst>
              <a:gd name="adj" fmla="val 19048"/>
            </a:avLst>
          </a:prstGeom>
          <a:solidFill>
            <a:srgbClr val="3B8FC4"/>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CONCEPT</a:t>
            </a:r>
            <a:endParaRPr lang="en-US" sz="1200" dirty="0"/>
          </a:p>
        </p:txBody>
      </p:sp>
      <p:sp>
        <p:nvSpPr>
          <p:cNvPr id="6" name="Text 4"/>
          <p:cNvSpPr/>
          <p:nvPr/>
        </p:nvSpPr>
        <p:spPr>
          <a:xfrm>
            <a:off x="640080" y="1600200"/>
            <a:ext cx="10698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site: — restrict results to a domain, e.g. site:*.example.gov</a:t>
            </a:r>
            <a:endParaRPr lang="en-US" sz="1500" dirty="0"/>
          </a:p>
        </p:txBody>
      </p:sp>
      <p:sp>
        <p:nvSpPr>
          <p:cNvPr id="7" name="Text 5"/>
          <p:cNvSpPr/>
          <p:nvPr/>
        </p:nvSpPr>
        <p:spPr>
          <a:xfrm>
            <a:off x="640080" y="2395728"/>
            <a:ext cx="10698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filetype: — restrict by file extension, e.g. filetype:pdf "confidential"</a:t>
            </a:r>
            <a:endParaRPr lang="en-US" sz="1500" dirty="0"/>
          </a:p>
        </p:txBody>
      </p:sp>
      <p:sp>
        <p:nvSpPr>
          <p:cNvPr id="8" name="Text 6"/>
          <p:cNvSpPr/>
          <p:nvPr/>
        </p:nvSpPr>
        <p:spPr>
          <a:xfrm>
            <a:off x="640080" y="3191256"/>
            <a:ext cx="10698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intitle: / inurl: — match page title or URL text, e.g. intitle:"index of"</a:t>
            </a:r>
            <a:endParaRPr lang="en-US" sz="1500" dirty="0"/>
          </a:p>
        </p:txBody>
      </p:sp>
      <p:sp>
        <p:nvSpPr>
          <p:cNvPr id="9" name="Text 7"/>
          <p:cNvSpPr/>
          <p:nvPr/>
        </p:nvSpPr>
        <p:spPr>
          <a:xfrm>
            <a:off x="640080" y="3986784"/>
            <a:ext cx="10698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 (minus) — exclude terms, e.g. site:*.example.com -www</a:t>
            </a:r>
            <a:endParaRPr lang="en-US" sz="1500" dirty="0"/>
          </a:p>
        </p:txBody>
      </p:sp>
      <p:sp>
        <p:nvSpPr>
          <p:cNvPr id="10" name="Text 8"/>
          <p:cNvSpPr/>
          <p:nvPr/>
        </p:nvSpPr>
        <p:spPr>
          <a:xfrm>
            <a:off x="640080" y="4782312"/>
            <a:ext cx="10698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Combine operators for precision — each additional operator narrows the haystack, it doesn't just add noise</a:t>
            </a:r>
            <a:endParaRPr lang="en-US" sz="1500" dirty="0"/>
          </a:p>
        </p:txBody>
      </p:sp>
      <p:sp>
        <p:nvSpPr>
          <p:cNvPr id="11" name="Shape 9"/>
          <p:cNvSpPr/>
          <p:nvPr/>
        </p:nvSpPr>
        <p:spPr>
          <a:xfrm>
            <a:off x="0" y="6473952"/>
            <a:ext cx="12161520" cy="384048"/>
          </a:xfrm>
          <a:prstGeom prst="rect">
            <a:avLst/>
          </a:prstGeom>
          <a:solidFill>
            <a:srgbClr val="2E2148"/>
          </a:solidFill>
          <a:ln/>
        </p:spPr>
      </p:sp>
      <p:sp>
        <p:nvSpPr>
          <p:cNvPr id="12" name="Text 10"/>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Demo — Live Dorking</a:t>
            </a:r>
            <a:endParaRPr lang="en-US" sz="2800" dirty="0"/>
          </a:p>
        </p:txBody>
      </p:sp>
      <p:sp>
        <p:nvSpPr>
          <p:cNvPr id="4" name="Shape 2"/>
          <p:cNvSpPr/>
          <p:nvPr/>
        </p:nvSpPr>
        <p:spPr>
          <a:xfrm>
            <a:off x="10195560" y="384048"/>
            <a:ext cx="1600200" cy="384048"/>
          </a:xfrm>
          <a:prstGeom prst="roundRect">
            <a:avLst>
              <a:gd name="adj" fmla="val 19048"/>
            </a:avLst>
          </a:prstGeom>
          <a:solidFill>
            <a:srgbClr val="E8A33D"/>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DEMO</a:t>
            </a:r>
            <a:endParaRPr lang="en-US" sz="1200" dirty="0"/>
          </a:p>
        </p:txBody>
      </p:sp>
      <p:sp>
        <p:nvSpPr>
          <p:cNvPr id="6" name="Shape 4"/>
          <p:cNvSpPr/>
          <p:nvPr/>
        </p:nvSpPr>
        <p:spPr>
          <a:xfrm>
            <a:off x="548640" y="1417320"/>
            <a:ext cx="11064240" cy="4114800"/>
          </a:xfrm>
          <a:prstGeom prst="roundRect">
            <a:avLst>
              <a:gd name="adj" fmla="val 1333"/>
            </a:avLst>
          </a:prstGeom>
          <a:solidFill>
            <a:srgbClr val="F5E8C0"/>
          </a:solidFill>
          <a:ln/>
        </p:spPr>
      </p:sp>
      <p:sp>
        <p:nvSpPr>
          <p:cNvPr id="7" name="Shape 5"/>
          <p:cNvSpPr/>
          <p:nvPr/>
        </p:nvSpPr>
        <p:spPr>
          <a:xfrm>
            <a:off x="868680" y="1737360"/>
            <a:ext cx="10424160" cy="3200400"/>
          </a:xfrm>
          <a:prstGeom prst="roundRect">
            <a:avLst>
              <a:gd name="adj" fmla="val 1429"/>
            </a:avLst>
          </a:prstGeom>
          <a:solidFill>
            <a:srgbClr val="081420"/>
          </a:solidFill>
          <a:ln/>
        </p:spPr>
      </p:sp>
      <p:sp>
        <p:nvSpPr>
          <p:cNvPr id="8" name="Text 6"/>
          <p:cNvSpPr/>
          <p:nvPr/>
        </p:nvSpPr>
        <p:spPr>
          <a:xfrm>
            <a:off x="1097280" y="1920240"/>
            <a:ext cx="9966960" cy="2834640"/>
          </a:xfrm>
          <a:prstGeom prst="rect">
            <a:avLst/>
          </a:prstGeom>
          <a:noFill/>
          <a:ln/>
        </p:spPr>
        <p:txBody>
          <a:bodyPr wrap="square" rtlCol="0" anchor="t"/>
          <a:lstStyle/>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site:*.example.gov -www</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site:.pk intitle:login</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site:.gov filetype:pdf "confidential"</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intitle:"index of" inurl:.git</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intitle:"Apache2 Debian Default Page"</a:t>
            </a:r>
            <a:endParaRPr lang="en-US" sz="1300" dirty="0"/>
          </a:p>
          <a:p>
            <a:pPr indent="0" marL="0">
              <a:lnSpc>
                <a:spcPct val="125000"/>
              </a:lnSpc>
              <a:buNone/>
            </a:pP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 Run each live against a pre-cleared target.</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 Narrate WHY a result matters, not just that it exists.</a:t>
            </a:r>
            <a:endParaRPr lang="en-US" sz="1300" dirty="0"/>
          </a:p>
        </p:txBody>
      </p:sp>
      <p:sp>
        <p:nvSpPr>
          <p:cNvPr id="9" name="Text 7"/>
          <p:cNvSpPr/>
          <p:nvPr/>
        </p:nvSpPr>
        <p:spPr>
          <a:xfrm>
            <a:off x="868680" y="5029200"/>
            <a:ext cx="10424160" cy="365760"/>
          </a:xfrm>
          <a:prstGeom prst="rect">
            <a:avLst/>
          </a:prstGeom>
          <a:noFill/>
          <a:ln/>
        </p:spPr>
        <p:txBody>
          <a:bodyPr wrap="square" rtlCol="0" anchor="ctr"/>
          <a:lstStyle/>
          <a:p>
            <a:pPr indent="0" marL="0">
              <a:buNone/>
            </a:pPr>
            <a:r>
              <a:rPr lang="en-US" sz="1150" i="1" dirty="0">
                <a:solidFill>
                  <a:srgbClr val="1B1B2F"/>
                </a:solidFill>
                <a:latin typeface="Arial" pitchFamily="34" charset="0"/>
                <a:ea typeface="Arial" pitchFamily="34" charset="-122"/>
                <a:cs typeface="Arial" pitchFamily="34" charset="-120"/>
              </a:rPr>
              <a:t>Live on instructor laptop — real internet, pre-cleared target only.</a:t>
            </a:r>
            <a:endParaRPr lang="en-US" sz="1150" dirty="0"/>
          </a:p>
        </p:txBody>
      </p:sp>
      <p:sp>
        <p:nvSpPr>
          <p:cNvPr id="10" name="Shape 8"/>
          <p:cNvSpPr/>
          <p:nvPr/>
        </p:nvSpPr>
        <p:spPr>
          <a:xfrm>
            <a:off x="0" y="6473952"/>
            <a:ext cx="12161520" cy="384048"/>
          </a:xfrm>
          <a:prstGeom prst="rect">
            <a:avLst/>
          </a:prstGeom>
          <a:solidFill>
            <a:srgbClr val="2E2148"/>
          </a:solidFill>
          <a:ln/>
        </p:spPr>
      </p:sp>
      <p:sp>
        <p:nvSpPr>
          <p:cNvPr id="11" name="Text 9"/>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1420"/>
        </a:solidFill>
      </p:bgPr>
    </p:bg>
    <p:spTree>
      <p:nvGrpSpPr>
        <p:cNvPr id="1" name=""/>
        <p:cNvGrpSpPr/>
        <p:nvPr/>
      </p:nvGrpSpPr>
      <p:grpSpPr>
        <a:xfrm>
          <a:off x="0" y="0"/>
          <a:ext cx="0" cy="0"/>
          <a:chOff x="0" y="0"/>
          <a:chExt cx="0" cy="0"/>
        </a:xfrm>
      </p:grpSpPr>
      <p:sp>
        <p:nvSpPr>
          <p:cNvPr id="2" name="Text 0"/>
          <p:cNvSpPr/>
          <p:nvPr/>
        </p:nvSpPr>
        <p:spPr>
          <a:xfrm>
            <a:off x="640080" y="2331720"/>
            <a:ext cx="7315200" cy="457200"/>
          </a:xfrm>
          <a:prstGeom prst="rect">
            <a:avLst/>
          </a:prstGeom>
          <a:noFill/>
          <a:ln/>
        </p:spPr>
        <p:txBody>
          <a:bodyPr wrap="square" rtlCol="0" anchor="ctr"/>
          <a:lstStyle/>
          <a:p>
            <a:pPr indent="0" marL="0">
              <a:buNone/>
            </a:pPr>
            <a:r>
              <a:rPr lang="en-US" sz="1400" b="1" spc="200" kern="0" dirty="0">
                <a:solidFill>
                  <a:srgbClr val="E8A33D"/>
                </a:solidFill>
                <a:latin typeface="Arial" pitchFamily="34" charset="0"/>
                <a:ea typeface="Arial" pitchFamily="34" charset="-122"/>
                <a:cs typeface="Arial" pitchFamily="34" charset="-120"/>
              </a:rPr>
              <a:t>SEGMENT 3</a:t>
            </a:r>
            <a:endParaRPr lang="en-US" sz="1400" dirty="0"/>
          </a:p>
        </p:txBody>
      </p:sp>
      <p:sp>
        <p:nvSpPr>
          <p:cNvPr id="3" name="Text 1"/>
          <p:cNvSpPr/>
          <p:nvPr/>
        </p:nvSpPr>
        <p:spPr>
          <a:xfrm>
            <a:off x="640080" y="2743200"/>
            <a:ext cx="10515600" cy="1005840"/>
          </a:xfrm>
          <a:prstGeom prst="rect">
            <a:avLst/>
          </a:prstGeom>
          <a:noFill/>
          <a:ln/>
        </p:spPr>
        <p:txBody>
          <a:bodyPr wrap="square" rtlCol="0" anchor="ctr"/>
          <a:lstStyle/>
          <a:p>
            <a:pPr indent="0" marL="0">
              <a:buNone/>
            </a:pPr>
            <a:r>
              <a:rPr lang="en-US" sz="4200" b="1" dirty="0">
                <a:solidFill>
                  <a:srgbClr val="FFFFFF"/>
                </a:solidFill>
                <a:latin typeface="Arial" pitchFamily="34" charset="0"/>
                <a:ea typeface="Arial" pitchFamily="34" charset="-122"/>
                <a:cs typeface="Arial" pitchFamily="34" charset="-120"/>
              </a:rPr>
              <a:t>OSINT Tool Chain</a:t>
            </a:r>
            <a:endParaRPr lang="en-US" sz="4200" dirty="0"/>
          </a:p>
        </p:txBody>
      </p:sp>
      <p:sp>
        <p:nvSpPr>
          <p:cNvPr id="4" name="Text 2"/>
          <p:cNvSpPr/>
          <p:nvPr/>
        </p:nvSpPr>
        <p:spPr>
          <a:xfrm>
            <a:off x="640080" y="3703320"/>
            <a:ext cx="9601200" cy="457200"/>
          </a:xfrm>
          <a:prstGeom prst="rect">
            <a:avLst/>
          </a:prstGeom>
          <a:noFill/>
          <a:ln/>
        </p:spPr>
        <p:txBody>
          <a:bodyPr wrap="square" rtlCol="0" anchor="ctr"/>
          <a:lstStyle/>
          <a:p>
            <a:pPr indent="0" marL="0">
              <a:buNone/>
            </a:pPr>
            <a:r>
              <a:rPr lang="en-US" sz="1400" i="1" dirty="0">
                <a:solidFill>
                  <a:srgbClr val="C9D3DE"/>
                </a:solidFill>
                <a:latin typeface="Arial" pitchFamily="34" charset="0"/>
                <a:ea typeface="Arial" pitchFamily="34" charset="-122"/>
                <a:cs typeface="Arial" pitchFamily="34" charset="-120"/>
              </a:rPr>
              <a:t>theHarvester → Sherlock → SpiderFoot — instructor laptop, real internet</a:t>
            </a:r>
            <a:endParaRPr lang="en-US" sz="1400" dirty="0"/>
          </a:p>
        </p:txBody>
      </p:sp>
      <p:sp>
        <p:nvSpPr>
          <p:cNvPr id="5" name="Shape 3"/>
          <p:cNvSpPr/>
          <p:nvPr/>
        </p:nvSpPr>
        <p:spPr>
          <a:xfrm>
            <a:off x="10195560" y="384048"/>
            <a:ext cx="1600200" cy="384048"/>
          </a:xfrm>
          <a:prstGeom prst="roundRect">
            <a:avLst>
              <a:gd name="adj" fmla="val 19048"/>
            </a:avLst>
          </a:prstGeom>
          <a:solidFill>
            <a:srgbClr val="E8A33D"/>
          </a:solidFill>
          <a:ln/>
        </p:spPr>
      </p:sp>
      <p:sp>
        <p:nvSpPr>
          <p:cNvPr id="6" name="Text 4"/>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DEMO</a:t>
            </a:r>
            <a:endParaRPr lang="en-US" sz="1200" dirty="0"/>
          </a:p>
        </p:txBody>
      </p:sp>
      <p:sp>
        <p:nvSpPr>
          <p:cNvPr id="7" name="Shape 5"/>
          <p:cNvSpPr/>
          <p:nvPr/>
        </p:nvSpPr>
        <p:spPr>
          <a:xfrm>
            <a:off x="0" y="6473952"/>
            <a:ext cx="12161520" cy="384048"/>
          </a:xfrm>
          <a:prstGeom prst="rect">
            <a:avLst/>
          </a:prstGeom>
          <a:solidFill>
            <a:srgbClr val="2E2148"/>
          </a:solidFill>
          <a:ln/>
        </p:spPr>
      </p:sp>
      <p:sp>
        <p:nvSpPr>
          <p:cNvPr id="8" name="Text 6"/>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Demo — theHarvester → Sherlock → SpiderFoot</a:t>
            </a:r>
            <a:endParaRPr lang="en-US" sz="2800" dirty="0"/>
          </a:p>
        </p:txBody>
      </p:sp>
      <p:sp>
        <p:nvSpPr>
          <p:cNvPr id="4" name="Shape 2"/>
          <p:cNvSpPr/>
          <p:nvPr/>
        </p:nvSpPr>
        <p:spPr>
          <a:xfrm>
            <a:off x="10195560" y="384048"/>
            <a:ext cx="1600200" cy="384048"/>
          </a:xfrm>
          <a:prstGeom prst="roundRect">
            <a:avLst>
              <a:gd name="adj" fmla="val 19048"/>
            </a:avLst>
          </a:prstGeom>
          <a:solidFill>
            <a:srgbClr val="E8A33D"/>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DEMO</a:t>
            </a:r>
            <a:endParaRPr lang="en-US" sz="1200" dirty="0"/>
          </a:p>
        </p:txBody>
      </p:sp>
      <p:sp>
        <p:nvSpPr>
          <p:cNvPr id="6" name="Shape 4"/>
          <p:cNvSpPr/>
          <p:nvPr/>
        </p:nvSpPr>
        <p:spPr>
          <a:xfrm>
            <a:off x="548640" y="1417320"/>
            <a:ext cx="11064240" cy="4114800"/>
          </a:xfrm>
          <a:prstGeom prst="roundRect">
            <a:avLst>
              <a:gd name="adj" fmla="val 1333"/>
            </a:avLst>
          </a:prstGeom>
          <a:solidFill>
            <a:srgbClr val="F5E8C0"/>
          </a:solidFill>
          <a:ln/>
        </p:spPr>
      </p:sp>
      <p:sp>
        <p:nvSpPr>
          <p:cNvPr id="7" name="Shape 5"/>
          <p:cNvSpPr/>
          <p:nvPr/>
        </p:nvSpPr>
        <p:spPr>
          <a:xfrm>
            <a:off x="868680" y="1737360"/>
            <a:ext cx="10424160" cy="3200400"/>
          </a:xfrm>
          <a:prstGeom prst="roundRect">
            <a:avLst>
              <a:gd name="adj" fmla="val 1429"/>
            </a:avLst>
          </a:prstGeom>
          <a:solidFill>
            <a:srgbClr val="081420"/>
          </a:solidFill>
          <a:ln/>
        </p:spPr>
      </p:sp>
      <p:sp>
        <p:nvSpPr>
          <p:cNvPr id="8" name="Text 6"/>
          <p:cNvSpPr/>
          <p:nvPr/>
        </p:nvSpPr>
        <p:spPr>
          <a:xfrm>
            <a:off x="1097280" y="1920240"/>
            <a:ext cx="9966960" cy="2834640"/>
          </a:xfrm>
          <a:prstGeom prst="rect">
            <a:avLst/>
          </a:prstGeom>
          <a:noFill/>
          <a:ln/>
        </p:spPr>
        <p:txBody>
          <a:bodyPr wrap="square" rtlCol="0" anchor="t"/>
          <a:lstStyle/>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 theHarvester -d target-domain.com -b all</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  → emails, subdomains, hosts</a:t>
            </a:r>
            <a:endParaRPr lang="en-US" sz="1300" dirty="0"/>
          </a:p>
          <a:p>
            <a:pPr indent="0" marL="0">
              <a:lnSpc>
                <a:spcPct val="125000"/>
              </a:lnSpc>
              <a:buNone/>
            </a:pP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 python3 sherlock.py &lt;username&gt;</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  → cross-platform account presence</a:t>
            </a:r>
            <a:endParaRPr lang="en-US" sz="1300" dirty="0"/>
          </a:p>
          <a:p>
            <a:pPr indent="0" marL="0">
              <a:lnSpc>
                <a:spcPct val="125000"/>
              </a:lnSpc>
              <a:buNone/>
            </a:pP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 python3 sf.py -s target-domain.com -m all</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  → automated multi-module correlation</a:t>
            </a:r>
            <a:endParaRPr lang="en-US" sz="1300" dirty="0"/>
          </a:p>
        </p:txBody>
      </p:sp>
      <p:sp>
        <p:nvSpPr>
          <p:cNvPr id="9" name="Text 7"/>
          <p:cNvSpPr/>
          <p:nvPr/>
        </p:nvSpPr>
        <p:spPr>
          <a:xfrm>
            <a:off x="868680" y="5029200"/>
            <a:ext cx="10424160" cy="365760"/>
          </a:xfrm>
          <a:prstGeom prst="rect">
            <a:avLst/>
          </a:prstGeom>
          <a:noFill/>
          <a:ln/>
        </p:spPr>
        <p:txBody>
          <a:bodyPr wrap="square" rtlCol="0" anchor="ctr"/>
          <a:lstStyle/>
          <a:p>
            <a:pPr indent="0" marL="0">
              <a:buNone/>
            </a:pPr>
            <a:r>
              <a:rPr lang="en-US" sz="1150" i="1" dirty="0">
                <a:solidFill>
                  <a:srgbClr val="1B1B2F"/>
                </a:solidFill>
                <a:latin typeface="Arial" pitchFamily="34" charset="0"/>
                <a:ea typeface="Arial" pitchFamily="34" charset="-122"/>
                <a:cs typeface="Arial" pitchFamily="34" charset="-120"/>
              </a:rPr>
              <a:t>Narrate the judgment step aloud: which hits are real, which are false positives, how you'd verify before acting.</a:t>
            </a:r>
            <a:endParaRPr lang="en-US" sz="1150" dirty="0"/>
          </a:p>
        </p:txBody>
      </p:sp>
      <p:sp>
        <p:nvSpPr>
          <p:cNvPr id="10" name="Shape 8"/>
          <p:cNvSpPr/>
          <p:nvPr/>
        </p:nvSpPr>
        <p:spPr>
          <a:xfrm>
            <a:off x="0" y="6473952"/>
            <a:ext cx="12161520" cy="384048"/>
          </a:xfrm>
          <a:prstGeom prst="rect">
            <a:avLst/>
          </a:prstGeom>
          <a:solidFill>
            <a:srgbClr val="2E2148"/>
          </a:solidFill>
          <a:ln/>
        </p:spPr>
      </p:sp>
      <p:sp>
        <p:nvSpPr>
          <p:cNvPr id="11" name="Text 9"/>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Where AI Fits In OSINT Now</a:t>
            </a:r>
            <a:endParaRPr lang="en-US" sz="2800" dirty="0"/>
          </a:p>
        </p:txBody>
      </p:sp>
      <p:sp>
        <p:nvSpPr>
          <p:cNvPr id="4" name="Shape 2"/>
          <p:cNvSpPr/>
          <p:nvPr/>
        </p:nvSpPr>
        <p:spPr>
          <a:xfrm>
            <a:off x="10195560" y="384048"/>
            <a:ext cx="1600200" cy="384048"/>
          </a:xfrm>
          <a:prstGeom prst="roundRect">
            <a:avLst>
              <a:gd name="adj" fmla="val 19048"/>
            </a:avLst>
          </a:prstGeom>
          <a:solidFill>
            <a:srgbClr val="3B8FC4"/>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CONCEPT</a:t>
            </a:r>
            <a:endParaRPr lang="en-US" sz="1200" dirty="0"/>
          </a:p>
        </p:txBody>
      </p:sp>
      <p:sp>
        <p:nvSpPr>
          <p:cNvPr id="6" name="Text 4"/>
          <p:cNvSpPr/>
          <p:nvPr/>
        </p:nvSpPr>
        <p:spPr>
          <a:xfrm>
            <a:off x="640080" y="1600200"/>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AI-powered correlation engines auto-connect related data points across large datasets — faster triage, not better judgment</a:t>
            </a:r>
            <a:endParaRPr lang="en-US" sz="1500" dirty="0"/>
          </a:p>
        </p:txBody>
      </p:sp>
      <p:sp>
        <p:nvSpPr>
          <p:cNvPr id="7" name="Text 5"/>
          <p:cNvSpPr/>
          <p:nvPr/>
        </p:nvSpPr>
        <p:spPr>
          <a:xfrm>
            <a:off x="640080" y="2505456"/>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NLP tools extract sentiment/intent from text-heavy sources; automated enrichment chases down related accounts from a single lead</a:t>
            </a:r>
            <a:endParaRPr lang="en-US" sz="1500" dirty="0"/>
          </a:p>
        </p:txBody>
      </p:sp>
      <p:sp>
        <p:nvSpPr>
          <p:cNvPr id="8" name="Text 6"/>
          <p:cNvSpPr/>
          <p:nvPr/>
        </p:nvSpPr>
        <p:spPr>
          <a:xfrm>
            <a:off x="640080" y="3410712"/>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The open risk: AI summaries can hallucinate connections that don't exist — every AI-assisted finding still needs manual verification</a:t>
            </a:r>
            <a:endParaRPr lang="en-US" sz="1500" dirty="0"/>
          </a:p>
        </p:txBody>
      </p:sp>
      <p:sp>
        <p:nvSpPr>
          <p:cNvPr id="9" name="Text 7"/>
          <p:cNvSpPr/>
          <p:nvPr/>
        </p:nvSpPr>
        <p:spPr>
          <a:xfrm>
            <a:off x="640080" y="4315968"/>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As AI-generated imagery improves, distinguishing authentic from fabricated visual evidence is getting harder — a live concern for verification workflows</a:t>
            </a:r>
            <a:endParaRPr lang="en-US" sz="1500" dirty="0"/>
          </a:p>
        </p:txBody>
      </p:sp>
      <p:sp>
        <p:nvSpPr>
          <p:cNvPr id="10" name="Shape 8"/>
          <p:cNvSpPr/>
          <p:nvPr/>
        </p:nvSpPr>
        <p:spPr>
          <a:xfrm>
            <a:off x="7132320" y="1600200"/>
            <a:ext cx="4480560" cy="4297680"/>
          </a:xfrm>
          <a:prstGeom prst="rect">
            <a:avLst/>
          </a:prstGeom>
          <a:solidFill>
            <a:srgbClr val="10233A"/>
          </a:solidFill>
          <a:ln w="12700">
            <a:solidFill>
              <a:srgbClr val="8FA0B3"/>
            </a:solidFill>
            <a:prstDash val="dash"/>
          </a:ln>
        </p:spPr>
      </p:sp>
      <p:sp>
        <p:nvSpPr>
          <p:cNvPr id="11" name="Text 9"/>
          <p:cNvSpPr/>
          <p:nvPr/>
        </p:nvSpPr>
        <p:spPr>
          <a:xfrm>
            <a:off x="7269480" y="3474720"/>
            <a:ext cx="4206240" cy="548640"/>
          </a:xfrm>
          <a:prstGeom prst="rect">
            <a:avLst/>
          </a:prstGeom>
          <a:noFill/>
          <a:ln/>
        </p:spPr>
        <p:txBody>
          <a:bodyPr wrap="square" rtlCol="0" anchor="ctr"/>
          <a:lstStyle/>
          <a:p>
            <a:pPr algn="ctr" indent="0" marL="0">
              <a:buNone/>
            </a:pPr>
            <a:r>
              <a:rPr lang="en-US" sz="1100" i="1" dirty="0">
                <a:solidFill>
                  <a:srgbClr val="8FA0B3"/>
                </a:solidFill>
                <a:latin typeface="Arial" pitchFamily="34" charset="0"/>
                <a:ea typeface="Arial" pitchFamily="34" charset="-122"/>
                <a:cs typeface="Arial" pitchFamily="34" charset="-120"/>
              </a:rPr>
              <a:t>🖼  AI-assisted OSINT correlation dashboard (sample)</a:t>
            </a:r>
            <a:endParaRPr lang="en-US" sz="1100" dirty="0"/>
          </a:p>
        </p:txBody>
      </p:sp>
      <p:sp>
        <p:nvSpPr>
          <p:cNvPr id="12" name="Shape 10"/>
          <p:cNvSpPr/>
          <p:nvPr/>
        </p:nvSpPr>
        <p:spPr>
          <a:xfrm>
            <a:off x="0" y="6473952"/>
            <a:ext cx="12161520" cy="384048"/>
          </a:xfrm>
          <a:prstGeom prst="rect">
            <a:avLst/>
          </a:prstGeom>
          <a:solidFill>
            <a:srgbClr val="2E2148"/>
          </a:solidFill>
          <a:ln/>
        </p:spPr>
      </p:sp>
      <p:sp>
        <p:nvSpPr>
          <p:cNvPr id="13" name="Text 11"/>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1420"/>
        </a:solidFill>
      </p:bgPr>
    </p:bg>
    <p:spTree>
      <p:nvGrpSpPr>
        <p:cNvPr id="1" name=""/>
        <p:cNvGrpSpPr/>
        <p:nvPr/>
      </p:nvGrpSpPr>
      <p:grpSpPr>
        <a:xfrm>
          <a:off x="0" y="0"/>
          <a:ext cx="0" cy="0"/>
          <a:chOff x="0" y="0"/>
          <a:chExt cx="0" cy="0"/>
        </a:xfrm>
      </p:grpSpPr>
      <p:sp>
        <p:nvSpPr>
          <p:cNvPr id="2" name="Text 0"/>
          <p:cNvSpPr/>
          <p:nvPr/>
        </p:nvSpPr>
        <p:spPr>
          <a:xfrm>
            <a:off x="640080" y="2331720"/>
            <a:ext cx="7315200" cy="457200"/>
          </a:xfrm>
          <a:prstGeom prst="rect">
            <a:avLst/>
          </a:prstGeom>
          <a:noFill/>
          <a:ln/>
        </p:spPr>
        <p:txBody>
          <a:bodyPr wrap="square" rtlCol="0" anchor="ctr"/>
          <a:lstStyle/>
          <a:p>
            <a:pPr indent="0" marL="0">
              <a:buNone/>
            </a:pPr>
            <a:r>
              <a:rPr lang="en-US" sz="1400" b="1" spc="200" kern="0" dirty="0">
                <a:solidFill>
                  <a:srgbClr val="E8A33D"/>
                </a:solidFill>
                <a:latin typeface="Arial" pitchFamily="34" charset="0"/>
                <a:ea typeface="Arial" pitchFamily="34" charset="-122"/>
                <a:cs typeface="Arial" pitchFamily="34" charset="-120"/>
              </a:rPr>
              <a:t>SEGMENT 4</a:t>
            </a:r>
            <a:endParaRPr lang="en-US" sz="1400" dirty="0"/>
          </a:p>
        </p:txBody>
      </p:sp>
      <p:sp>
        <p:nvSpPr>
          <p:cNvPr id="3" name="Text 1"/>
          <p:cNvSpPr/>
          <p:nvPr/>
        </p:nvSpPr>
        <p:spPr>
          <a:xfrm>
            <a:off x="640080" y="2743200"/>
            <a:ext cx="10515600" cy="1005840"/>
          </a:xfrm>
          <a:prstGeom prst="rect">
            <a:avLst/>
          </a:prstGeom>
          <a:noFill/>
          <a:ln/>
        </p:spPr>
        <p:txBody>
          <a:bodyPr wrap="square" rtlCol="0" anchor="ctr"/>
          <a:lstStyle/>
          <a:p>
            <a:pPr indent="0" marL="0">
              <a:buNone/>
            </a:pPr>
            <a:r>
              <a:rPr lang="en-US" sz="4200" b="1" dirty="0">
                <a:solidFill>
                  <a:srgbClr val="FFFFFF"/>
                </a:solidFill>
                <a:latin typeface="Arial" pitchFamily="34" charset="0"/>
                <a:ea typeface="Arial" pitchFamily="34" charset="-122"/>
                <a:cs typeface="Arial" pitchFamily="34" charset="-120"/>
              </a:rPr>
              <a:t>Grey Areas &amp; Legal</a:t>
            </a:r>
            <a:endParaRPr lang="en-US" sz="4200" dirty="0"/>
          </a:p>
        </p:txBody>
      </p:sp>
      <p:sp>
        <p:nvSpPr>
          <p:cNvPr id="4" name="Text 2"/>
          <p:cNvSpPr/>
          <p:nvPr/>
        </p:nvSpPr>
        <p:spPr>
          <a:xfrm>
            <a:off x="640080" y="3703320"/>
            <a:ext cx="9601200" cy="457200"/>
          </a:xfrm>
          <a:prstGeom prst="rect">
            <a:avLst/>
          </a:prstGeom>
          <a:noFill/>
          <a:ln/>
        </p:spPr>
        <p:txBody>
          <a:bodyPr wrap="square" rtlCol="0" anchor="ctr"/>
          <a:lstStyle/>
          <a:p>
            <a:pPr indent="0" marL="0">
              <a:buNone/>
            </a:pPr>
            <a:r>
              <a:rPr lang="en-US" sz="1400" i="1" dirty="0">
                <a:solidFill>
                  <a:srgbClr val="C9D3DE"/>
                </a:solidFill>
                <a:latin typeface="Arial" pitchFamily="34" charset="0"/>
                <a:ea typeface="Arial" pitchFamily="34" charset="-122"/>
                <a:cs typeface="Arial" pitchFamily="34" charset="-120"/>
              </a:rPr>
              <a:t>Syllabus item (e) — explicit, not a footnote</a:t>
            </a:r>
            <a:endParaRPr lang="en-US" sz="1400" dirty="0"/>
          </a:p>
        </p:txBody>
      </p:sp>
      <p:sp>
        <p:nvSpPr>
          <p:cNvPr id="5" name="Shape 3"/>
          <p:cNvSpPr/>
          <p:nvPr/>
        </p:nvSpPr>
        <p:spPr>
          <a:xfrm>
            <a:off x="10195560" y="384048"/>
            <a:ext cx="1600200" cy="384048"/>
          </a:xfrm>
          <a:prstGeom prst="roundRect">
            <a:avLst>
              <a:gd name="adj" fmla="val 19048"/>
            </a:avLst>
          </a:prstGeom>
          <a:solidFill>
            <a:srgbClr val="3B8FC4"/>
          </a:solidFill>
          <a:ln/>
        </p:spPr>
      </p:sp>
      <p:sp>
        <p:nvSpPr>
          <p:cNvPr id="6" name="Text 4"/>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CONCEPT</a:t>
            </a:r>
            <a:endParaRPr lang="en-US" sz="1200" dirty="0"/>
          </a:p>
        </p:txBody>
      </p:sp>
      <p:sp>
        <p:nvSpPr>
          <p:cNvPr id="7" name="Shape 5"/>
          <p:cNvSpPr/>
          <p:nvPr/>
        </p:nvSpPr>
        <p:spPr>
          <a:xfrm>
            <a:off x="0" y="6473952"/>
            <a:ext cx="12161520" cy="384048"/>
          </a:xfrm>
          <a:prstGeom prst="rect">
            <a:avLst/>
          </a:prstGeom>
          <a:solidFill>
            <a:srgbClr val="2E2148"/>
          </a:solidFill>
          <a:ln/>
        </p:spPr>
      </p:sp>
      <p:sp>
        <p:nvSpPr>
          <p:cNvPr id="8" name="Text 6"/>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Ethics &amp; Authorisation</a:t>
            </a:r>
            <a:endParaRPr lang="en-US" sz="2800" dirty="0"/>
          </a:p>
        </p:txBody>
      </p:sp>
      <p:sp>
        <p:nvSpPr>
          <p:cNvPr id="4" name="Shape 2"/>
          <p:cNvSpPr/>
          <p:nvPr/>
        </p:nvSpPr>
        <p:spPr>
          <a:xfrm>
            <a:off x="10195560" y="384048"/>
            <a:ext cx="1600200" cy="384048"/>
          </a:xfrm>
          <a:prstGeom prst="roundRect">
            <a:avLst>
              <a:gd name="adj" fmla="val 19048"/>
            </a:avLst>
          </a:prstGeom>
          <a:solidFill>
            <a:srgbClr val="3B8FC4"/>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CONCEPT</a:t>
            </a:r>
            <a:endParaRPr lang="en-US" sz="1200" dirty="0"/>
          </a:p>
        </p:txBody>
      </p:sp>
      <p:sp>
        <p:nvSpPr>
          <p:cNvPr id="6" name="Text 4"/>
          <p:cNvSpPr/>
          <p:nvPr/>
        </p:nvSpPr>
        <p:spPr>
          <a:xfrm>
            <a:off x="640080" y="1600200"/>
            <a:ext cx="10698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Passive OSINT ≠ blanket permission — scope, authorisation, and intent still matter</a:t>
            </a:r>
            <a:endParaRPr lang="en-US" sz="1500" dirty="0"/>
          </a:p>
        </p:txBody>
      </p:sp>
      <p:sp>
        <p:nvSpPr>
          <p:cNvPr id="7" name="Text 5"/>
          <p:cNvSpPr/>
          <p:nvPr/>
        </p:nvSpPr>
        <p:spPr>
          <a:xfrm>
            <a:off x="640080" y="2505456"/>
            <a:ext cx="10698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Never test systems or people you don't own or have written authorisation to test</a:t>
            </a:r>
            <a:endParaRPr lang="en-US" sz="1500" dirty="0"/>
          </a:p>
        </p:txBody>
      </p:sp>
      <p:sp>
        <p:nvSpPr>
          <p:cNvPr id="8" name="Text 6"/>
          <p:cNvSpPr/>
          <p:nvPr/>
        </p:nvSpPr>
        <p:spPr>
          <a:xfrm>
            <a:off x="640080" y="3410712"/>
            <a:ext cx="10698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Some dorking behaviour can itself trigger IDS/IPS alerting on the target side</a:t>
            </a:r>
            <a:endParaRPr lang="en-US" sz="1500" dirty="0"/>
          </a:p>
        </p:txBody>
      </p:sp>
      <p:sp>
        <p:nvSpPr>
          <p:cNvPr id="9" name="Text 7"/>
          <p:cNvSpPr/>
          <p:nvPr/>
        </p:nvSpPr>
        <p:spPr>
          <a:xfrm>
            <a:off x="640080" y="4206240"/>
            <a:ext cx="10698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Understanding a technique is not permission to use it outside an authorised engagement</a:t>
            </a:r>
            <a:endParaRPr lang="en-US" sz="1500" dirty="0"/>
          </a:p>
        </p:txBody>
      </p:sp>
      <p:sp>
        <p:nvSpPr>
          <p:cNvPr id="10" name="Text 8"/>
          <p:cNvSpPr/>
          <p:nvPr/>
        </p:nvSpPr>
        <p:spPr>
          <a:xfrm>
            <a:off x="640080" y="5111496"/>
            <a:ext cx="10698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When in doubt: get authorisation in writing before you start, not after you find something</a:t>
            </a:r>
            <a:endParaRPr lang="en-US" sz="1500" dirty="0"/>
          </a:p>
        </p:txBody>
      </p:sp>
      <p:sp>
        <p:nvSpPr>
          <p:cNvPr id="11" name="Shape 9"/>
          <p:cNvSpPr/>
          <p:nvPr/>
        </p:nvSpPr>
        <p:spPr>
          <a:xfrm>
            <a:off x="0" y="6473952"/>
            <a:ext cx="12161520" cy="384048"/>
          </a:xfrm>
          <a:prstGeom prst="rect">
            <a:avLst/>
          </a:prstGeom>
          <a:solidFill>
            <a:srgbClr val="2E2148"/>
          </a:solidFill>
          <a:ln/>
        </p:spPr>
      </p:sp>
      <p:sp>
        <p:nvSpPr>
          <p:cNvPr id="12" name="Text 10"/>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Gulf Censorship vs. OSINT Exposure</a:t>
            </a:r>
            <a:endParaRPr lang="en-US" sz="2800" dirty="0"/>
          </a:p>
        </p:txBody>
      </p:sp>
      <p:sp>
        <p:nvSpPr>
          <p:cNvPr id="4" name="Shape 2"/>
          <p:cNvSpPr/>
          <p:nvPr/>
        </p:nvSpPr>
        <p:spPr>
          <a:xfrm>
            <a:off x="10195560" y="384048"/>
            <a:ext cx="1600200" cy="384048"/>
          </a:xfrm>
          <a:prstGeom prst="roundRect">
            <a:avLst>
              <a:gd name="adj" fmla="val 19048"/>
            </a:avLst>
          </a:prstGeom>
          <a:solidFill>
            <a:srgbClr val="D9695F"/>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CASE STUDY</a:t>
            </a:r>
            <a:endParaRPr lang="en-US" sz="1200" dirty="0"/>
          </a:p>
        </p:txBody>
      </p:sp>
      <p:sp>
        <p:nvSpPr>
          <p:cNvPr id="6" name="Text 4"/>
          <p:cNvSpPr/>
          <p:nvPr/>
        </p:nvSpPr>
        <p:spPr>
          <a:xfrm>
            <a:off x="548640" y="1508760"/>
            <a:ext cx="5120640" cy="1005840"/>
          </a:xfrm>
          <a:prstGeom prst="rect">
            <a:avLst/>
          </a:prstGeom>
          <a:noFill/>
          <a:ln/>
        </p:spPr>
        <p:txBody>
          <a:bodyPr wrap="square" rtlCol="0" anchor="ctr"/>
          <a:lstStyle/>
          <a:p>
            <a:pPr indent="0" marL="0">
              <a:buNone/>
            </a:pPr>
            <a:r>
              <a:rPr lang="en-US" sz="1500" b="1" i="1" dirty="0">
                <a:solidFill>
                  <a:srgbClr val="FFFFFF"/>
                </a:solidFill>
                <a:latin typeface="Arial" pitchFamily="34" charset="0"/>
                <a:ea typeface="Arial" pitchFamily="34" charset="-122"/>
                <a:cs typeface="Arial" pitchFamily="34" charset="-120"/>
              </a:rPr>
              <a:t>Official channels went silent. Open sources didn't.</a:t>
            </a:r>
            <a:endParaRPr lang="en-US" sz="1500" dirty="0"/>
          </a:p>
        </p:txBody>
      </p:sp>
      <p:sp>
        <p:nvSpPr>
          <p:cNvPr id="7" name="Text 5"/>
          <p:cNvSpPr/>
          <p:nvPr/>
        </p:nvSpPr>
        <p:spPr>
          <a:xfrm>
            <a:off x="548640" y="2606040"/>
            <a:ext cx="5120640" cy="3108960"/>
          </a:xfrm>
          <a:prstGeom prst="rect">
            <a:avLst/>
          </a:prstGeom>
          <a:noFill/>
          <a:ln/>
        </p:spPr>
        <p:txBody>
          <a:bodyPr wrap="square" rtlCol="0" anchor="t"/>
          <a:lstStyle/>
          <a:p>
            <a:pPr indent="0" marL="0">
              <a:lnSpc>
                <a:spcPct val="125000"/>
              </a:lnSpc>
              <a:buNone/>
            </a:pPr>
            <a:r>
              <a:rPr lang="en-US" sz="1250" dirty="0">
                <a:solidFill>
                  <a:srgbClr val="C9D3DE"/>
                </a:solidFill>
                <a:latin typeface="Arial" pitchFamily="34" charset="0"/>
                <a:ea typeface="Arial" pitchFamily="34" charset="-122"/>
                <a:cs typeface="Arial" pitchFamily="34" charset="-120"/>
              </a:rPr>
              <a:t>As missiles fell across the Gulf in 2026, several governments imposed strict bans on filming or sharing strike footage — with real enforcement: arrests, prison sentences, and citizenship revocation. Despite this, independent analysts geolocated and verified strike footage from social media, sourced in part through volunteer platforms, confirming impacts official channels denied or omitted. One official rationale is telling: viral footage functions as real-time battle damage assessment for an adversary — reframing this as an active OPSEC-vs-OSINT contest, not simply a press-freedom story.</a:t>
            </a:r>
            <a:endParaRPr lang="en-US" sz="1250" dirty="0"/>
          </a:p>
        </p:txBody>
      </p:sp>
      <p:sp>
        <p:nvSpPr>
          <p:cNvPr id="8" name="Shape 6"/>
          <p:cNvSpPr/>
          <p:nvPr/>
        </p:nvSpPr>
        <p:spPr>
          <a:xfrm>
            <a:off x="6126480" y="1508760"/>
            <a:ext cx="5394960" cy="502920"/>
          </a:xfrm>
          <a:prstGeom prst="roundRect">
            <a:avLst>
              <a:gd name="adj" fmla="val 9091"/>
            </a:avLst>
          </a:prstGeom>
          <a:solidFill>
            <a:srgbClr val="0F2A45"/>
          </a:solidFill>
          <a:ln/>
        </p:spPr>
      </p:sp>
      <p:sp>
        <p:nvSpPr>
          <p:cNvPr id="9" name="Text 7"/>
          <p:cNvSpPr/>
          <p:nvPr/>
        </p:nvSpPr>
        <p:spPr>
          <a:xfrm>
            <a:off x="6355080" y="150876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Strikes hit multiple Gulf states</a:t>
            </a:r>
            <a:endParaRPr lang="en-US" sz="1200" dirty="0"/>
          </a:p>
        </p:txBody>
      </p:sp>
      <p:sp>
        <p:nvSpPr>
          <p:cNvPr id="10" name="Text 8"/>
          <p:cNvSpPr/>
          <p:nvPr/>
        </p:nvSpPr>
        <p:spPr>
          <a:xfrm>
            <a:off x="6126480" y="1956816"/>
            <a:ext cx="5394960" cy="274320"/>
          </a:xfrm>
          <a:prstGeom prst="rect">
            <a:avLst/>
          </a:prstGeom>
          <a:noFill/>
          <a:ln/>
        </p:spPr>
        <p:txBody>
          <a:bodyPr wrap="square" rtlCol="0" anchor="ctr"/>
          <a:lstStyle/>
          <a:p>
            <a:pPr algn="ctr" indent="0" marL="0">
              <a:buNone/>
            </a:pPr>
            <a:r>
              <a:rPr lang="en-US" sz="1400" dirty="0">
                <a:solidFill>
                  <a:srgbClr val="E8A33D"/>
                </a:solidFill>
                <a:latin typeface="Arial" pitchFamily="34" charset="0"/>
                <a:ea typeface="Arial" pitchFamily="34" charset="-122"/>
                <a:cs typeface="Arial" pitchFamily="34" charset="-120"/>
              </a:rPr>
              <a:t>↓</a:t>
            </a:r>
            <a:endParaRPr lang="en-US" sz="1400" dirty="0"/>
          </a:p>
        </p:txBody>
      </p:sp>
      <p:sp>
        <p:nvSpPr>
          <p:cNvPr id="11" name="Shape 9"/>
          <p:cNvSpPr/>
          <p:nvPr/>
        </p:nvSpPr>
        <p:spPr>
          <a:xfrm>
            <a:off x="6126480" y="2286000"/>
            <a:ext cx="5394960" cy="502920"/>
          </a:xfrm>
          <a:prstGeom prst="roundRect">
            <a:avLst>
              <a:gd name="adj" fmla="val 9091"/>
            </a:avLst>
          </a:prstGeom>
          <a:solidFill>
            <a:srgbClr val="0F2A45"/>
          </a:solidFill>
          <a:ln/>
        </p:spPr>
      </p:sp>
      <p:sp>
        <p:nvSpPr>
          <p:cNvPr id="12" name="Text 10"/>
          <p:cNvSpPr/>
          <p:nvPr/>
        </p:nvSpPr>
        <p:spPr>
          <a:xfrm>
            <a:off x="6355080" y="228600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Governments ban filming &amp; sharing</a:t>
            </a:r>
            <a:endParaRPr lang="en-US" sz="1200" dirty="0"/>
          </a:p>
        </p:txBody>
      </p:sp>
      <p:sp>
        <p:nvSpPr>
          <p:cNvPr id="13" name="Text 11"/>
          <p:cNvSpPr/>
          <p:nvPr/>
        </p:nvSpPr>
        <p:spPr>
          <a:xfrm>
            <a:off x="6126480" y="2734056"/>
            <a:ext cx="5394960" cy="274320"/>
          </a:xfrm>
          <a:prstGeom prst="rect">
            <a:avLst/>
          </a:prstGeom>
          <a:noFill/>
          <a:ln/>
        </p:spPr>
        <p:txBody>
          <a:bodyPr wrap="square" rtlCol="0" anchor="ctr"/>
          <a:lstStyle/>
          <a:p>
            <a:pPr algn="ctr" indent="0" marL="0">
              <a:buNone/>
            </a:pPr>
            <a:r>
              <a:rPr lang="en-US" sz="1400" dirty="0">
                <a:solidFill>
                  <a:srgbClr val="E8A33D"/>
                </a:solidFill>
                <a:latin typeface="Arial" pitchFamily="34" charset="0"/>
                <a:ea typeface="Arial" pitchFamily="34" charset="-122"/>
                <a:cs typeface="Arial" pitchFamily="34" charset="-120"/>
              </a:rPr>
              <a:t>↓</a:t>
            </a:r>
            <a:endParaRPr lang="en-US" sz="1400" dirty="0"/>
          </a:p>
        </p:txBody>
      </p:sp>
      <p:sp>
        <p:nvSpPr>
          <p:cNvPr id="14" name="Shape 12"/>
          <p:cNvSpPr/>
          <p:nvPr/>
        </p:nvSpPr>
        <p:spPr>
          <a:xfrm>
            <a:off x="6126480" y="3063240"/>
            <a:ext cx="5394960" cy="502920"/>
          </a:xfrm>
          <a:prstGeom prst="roundRect">
            <a:avLst>
              <a:gd name="adj" fmla="val 9091"/>
            </a:avLst>
          </a:prstGeom>
          <a:solidFill>
            <a:srgbClr val="0F2A45"/>
          </a:solidFill>
          <a:ln/>
        </p:spPr>
      </p:sp>
      <p:sp>
        <p:nvSpPr>
          <p:cNvPr id="15" name="Text 13"/>
          <p:cNvSpPr/>
          <p:nvPr/>
        </p:nvSpPr>
        <p:spPr>
          <a:xfrm>
            <a:off x="6355080" y="306324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Journalists detained, sentences handed down</a:t>
            </a:r>
            <a:endParaRPr lang="en-US" sz="1200" dirty="0"/>
          </a:p>
        </p:txBody>
      </p:sp>
      <p:sp>
        <p:nvSpPr>
          <p:cNvPr id="16" name="Text 14"/>
          <p:cNvSpPr/>
          <p:nvPr/>
        </p:nvSpPr>
        <p:spPr>
          <a:xfrm>
            <a:off x="6126480" y="3511296"/>
            <a:ext cx="5394960" cy="274320"/>
          </a:xfrm>
          <a:prstGeom prst="rect">
            <a:avLst/>
          </a:prstGeom>
          <a:noFill/>
          <a:ln/>
        </p:spPr>
        <p:txBody>
          <a:bodyPr wrap="square" rtlCol="0" anchor="ctr"/>
          <a:lstStyle/>
          <a:p>
            <a:pPr algn="ctr" indent="0" marL="0">
              <a:buNone/>
            </a:pPr>
            <a:r>
              <a:rPr lang="en-US" sz="1400" dirty="0">
                <a:solidFill>
                  <a:srgbClr val="E8A33D"/>
                </a:solidFill>
                <a:latin typeface="Arial" pitchFamily="34" charset="0"/>
                <a:ea typeface="Arial" pitchFamily="34" charset="-122"/>
                <a:cs typeface="Arial" pitchFamily="34" charset="-120"/>
              </a:rPr>
              <a:t>↓</a:t>
            </a:r>
            <a:endParaRPr lang="en-US" sz="1400" dirty="0"/>
          </a:p>
        </p:txBody>
      </p:sp>
      <p:sp>
        <p:nvSpPr>
          <p:cNvPr id="17" name="Shape 15"/>
          <p:cNvSpPr/>
          <p:nvPr/>
        </p:nvSpPr>
        <p:spPr>
          <a:xfrm>
            <a:off x="6126480" y="3840480"/>
            <a:ext cx="5394960" cy="502920"/>
          </a:xfrm>
          <a:prstGeom prst="roundRect">
            <a:avLst>
              <a:gd name="adj" fmla="val 9091"/>
            </a:avLst>
          </a:prstGeom>
          <a:solidFill>
            <a:srgbClr val="0F2A45"/>
          </a:solidFill>
          <a:ln/>
        </p:spPr>
      </p:sp>
      <p:sp>
        <p:nvSpPr>
          <p:cNvPr id="18" name="Text 16"/>
          <p:cNvSpPr/>
          <p:nvPr/>
        </p:nvSpPr>
        <p:spPr>
          <a:xfrm>
            <a:off x="6355080" y="384048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Independent geolocation continues</a:t>
            </a:r>
            <a:endParaRPr lang="en-US" sz="1200" dirty="0"/>
          </a:p>
        </p:txBody>
      </p:sp>
      <p:sp>
        <p:nvSpPr>
          <p:cNvPr id="19" name="Text 17"/>
          <p:cNvSpPr/>
          <p:nvPr/>
        </p:nvSpPr>
        <p:spPr>
          <a:xfrm>
            <a:off x="6126480" y="4288536"/>
            <a:ext cx="5394960" cy="274320"/>
          </a:xfrm>
          <a:prstGeom prst="rect">
            <a:avLst/>
          </a:prstGeom>
          <a:noFill/>
          <a:ln/>
        </p:spPr>
        <p:txBody>
          <a:bodyPr wrap="square" rtlCol="0" anchor="ctr"/>
          <a:lstStyle/>
          <a:p>
            <a:pPr algn="ctr" indent="0" marL="0">
              <a:buNone/>
            </a:pPr>
            <a:r>
              <a:rPr lang="en-US" sz="1400" dirty="0">
                <a:solidFill>
                  <a:srgbClr val="E8A33D"/>
                </a:solidFill>
                <a:latin typeface="Arial" pitchFamily="34" charset="0"/>
                <a:ea typeface="Arial" pitchFamily="34" charset="-122"/>
                <a:cs typeface="Arial" pitchFamily="34" charset="-120"/>
              </a:rPr>
              <a:t>↓</a:t>
            </a:r>
            <a:endParaRPr lang="en-US" sz="1400" dirty="0"/>
          </a:p>
        </p:txBody>
      </p:sp>
      <p:sp>
        <p:nvSpPr>
          <p:cNvPr id="20" name="Shape 18"/>
          <p:cNvSpPr/>
          <p:nvPr/>
        </p:nvSpPr>
        <p:spPr>
          <a:xfrm>
            <a:off x="6126480" y="4617720"/>
            <a:ext cx="5394960" cy="502920"/>
          </a:xfrm>
          <a:prstGeom prst="roundRect">
            <a:avLst>
              <a:gd name="adj" fmla="val 9091"/>
            </a:avLst>
          </a:prstGeom>
          <a:solidFill>
            <a:srgbClr val="0F2A45"/>
          </a:solidFill>
          <a:ln/>
        </p:spPr>
      </p:sp>
      <p:sp>
        <p:nvSpPr>
          <p:cNvPr id="21" name="Text 19"/>
          <p:cNvSpPr/>
          <p:nvPr/>
        </p:nvSpPr>
        <p:spPr>
          <a:xfrm>
            <a:off x="6355080" y="4617720"/>
            <a:ext cx="4937760" cy="5029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Verified strike footage published anyway</a:t>
            </a:r>
            <a:endParaRPr lang="en-US" sz="1200" dirty="0"/>
          </a:p>
        </p:txBody>
      </p:sp>
      <p:sp>
        <p:nvSpPr>
          <p:cNvPr id="22" name="Shape 20"/>
          <p:cNvSpPr/>
          <p:nvPr/>
        </p:nvSpPr>
        <p:spPr>
          <a:xfrm>
            <a:off x="6126480" y="5257800"/>
            <a:ext cx="5394960" cy="1051560"/>
          </a:xfrm>
          <a:prstGeom prst="rect">
            <a:avLst/>
          </a:prstGeom>
          <a:solidFill>
            <a:srgbClr val="10233A"/>
          </a:solidFill>
          <a:ln w="12700">
            <a:solidFill>
              <a:srgbClr val="8FA0B3"/>
            </a:solidFill>
            <a:prstDash val="dash"/>
          </a:ln>
        </p:spPr>
      </p:sp>
      <p:sp>
        <p:nvSpPr>
          <p:cNvPr id="23" name="Text 21"/>
          <p:cNvSpPr/>
          <p:nvPr/>
        </p:nvSpPr>
        <p:spPr>
          <a:xfrm>
            <a:off x="6263640" y="5509260"/>
            <a:ext cx="5120640" cy="548640"/>
          </a:xfrm>
          <a:prstGeom prst="rect">
            <a:avLst/>
          </a:prstGeom>
          <a:noFill/>
          <a:ln/>
        </p:spPr>
        <p:txBody>
          <a:bodyPr wrap="square" rtlCol="0" anchor="ctr"/>
          <a:lstStyle/>
          <a:p>
            <a:pPr algn="ctr" indent="0" marL="0">
              <a:buNone/>
            </a:pPr>
            <a:r>
              <a:rPr lang="en-US" sz="1100" i="1" dirty="0">
                <a:solidFill>
                  <a:srgbClr val="8FA0B3"/>
                </a:solidFill>
                <a:latin typeface="Arial" pitchFamily="34" charset="0"/>
                <a:ea typeface="Arial" pitchFamily="34" charset="-122"/>
                <a:cs typeface="Arial" pitchFamily="34" charset="-120"/>
              </a:rPr>
              <a:t>🖼  Map of verified strike locations vs. official denial timeline</a:t>
            </a:r>
            <a:endParaRPr lang="en-US" sz="1100" dirty="0"/>
          </a:p>
        </p:txBody>
      </p:sp>
      <p:sp>
        <p:nvSpPr>
          <p:cNvPr id="24" name="Shape 22"/>
          <p:cNvSpPr/>
          <p:nvPr/>
        </p:nvSpPr>
        <p:spPr>
          <a:xfrm>
            <a:off x="0" y="6473952"/>
            <a:ext cx="12161520" cy="384048"/>
          </a:xfrm>
          <a:prstGeom prst="rect">
            <a:avLst/>
          </a:prstGeom>
          <a:solidFill>
            <a:srgbClr val="2E2148"/>
          </a:solidFill>
          <a:ln/>
        </p:spPr>
      </p:sp>
      <p:sp>
        <p:nvSpPr>
          <p:cNvPr id="25" name="Text 23"/>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1420"/>
        </a:solidFill>
      </p:bgPr>
    </p:bg>
    <p:spTree>
      <p:nvGrpSpPr>
        <p:cNvPr id="1" name=""/>
        <p:cNvGrpSpPr/>
        <p:nvPr/>
      </p:nvGrpSpPr>
      <p:grpSpPr>
        <a:xfrm>
          <a:off x="0" y="0"/>
          <a:ext cx="0" cy="0"/>
          <a:chOff x="0" y="0"/>
          <a:chExt cx="0" cy="0"/>
        </a:xfrm>
      </p:grpSpPr>
      <p:sp>
        <p:nvSpPr>
          <p:cNvPr id="2" name="Text 0"/>
          <p:cNvSpPr/>
          <p:nvPr/>
        </p:nvSpPr>
        <p:spPr>
          <a:xfrm>
            <a:off x="640080" y="2331720"/>
            <a:ext cx="7315200" cy="457200"/>
          </a:xfrm>
          <a:prstGeom prst="rect">
            <a:avLst/>
          </a:prstGeom>
          <a:noFill/>
          <a:ln/>
        </p:spPr>
        <p:txBody>
          <a:bodyPr wrap="square" rtlCol="0" anchor="ctr"/>
          <a:lstStyle/>
          <a:p>
            <a:pPr indent="0" marL="0">
              <a:buNone/>
            </a:pPr>
            <a:r>
              <a:rPr lang="en-US" sz="1400" b="1" spc="200" kern="0" dirty="0">
                <a:solidFill>
                  <a:srgbClr val="E8A33D"/>
                </a:solidFill>
                <a:latin typeface="Arial" pitchFamily="34" charset="0"/>
                <a:ea typeface="Arial" pitchFamily="34" charset="-122"/>
                <a:cs typeface="Arial" pitchFamily="34" charset="-120"/>
              </a:rPr>
              <a:t>SEGMENT 5</a:t>
            </a:r>
            <a:endParaRPr lang="en-US" sz="1400" dirty="0"/>
          </a:p>
        </p:txBody>
      </p:sp>
      <p:sp>
        <p:nvSpPr>
          <p:cNvPr id="3" name="Text 1"/>
          <p:cNvSpPr/>
          <p:nvPr/>
        </p:nvSpPr>
        <p:spPr>
          <a:xfrm>
            <a:off x="640080" y="2743200"/>
            <a:ext cx="10515600" cy="1005840"/>
          </a:xfrm>
          <a:prstGeom prst="rect">
            <a:avLst/>
          </a:prstGeom>
          <a:noFill/>
          <a:ln/>
        </p:spPr>
        <p:txBody>
          <a:bodyPr wrap="square" rtlCol="0" anchor="ctr"/>
          <a:lstStyle/>
          <a:p>
            <a:pPr indent="0" marL="0">
              <a:buNone/>
            </a:pPr>
            <a:r>
              <a:rPr lang="en-US" sz="4200" b="1" dirty="0">
                <a:solidFill>
                  <a:srgbClr val="FFFFFF"/>
                </a:solidFill>
                <a:latin typeface="Arial" pitchFamily="34" charset="0"/>
                <a:ea typeface="Arial" pitchFamily="34" charset="-122"/>
                <a:cs typeface="Arial" pitchFamily="34" charset="-120"/>
              </a:rPr>
              <a:t>Social Engineering — The Bridge</a:t>
            </a:r>
            <a:endParaRPr lang="en-US" sz="4200" dirty="0"/>
          </a:p>
        </p:txBody>
      </p:sp>
      <p:sp>
        <p:nvSpPr>
          <p:cNvPr id="4" name="Text 2"/>
          <p:cNvSpPr/>
          <p:nvPr/>
        </p:nvSpPr>
        <p:spPr>
          <a:xfrm>
            <a:off x="640080" y="3703320"/>
            <a:ext cx="9601200" cy="457200"/>
          </a:xfrm>
          <a:prstGeom prst="rect">
            <a:avLst/>
          </a:prstGeom>
          <a:noFill/>
          <a:ln/>
        </p:spPr>
        <p:txBody>
          <a:bodyPr wrap="square" rtlCol="0" anchor="ctr"/>
          <a:lstStyle/>
          <a:p>
            <a:pPr indent="0" marL="0">
              <a:buNone/>
            </a:pPr>
            <a:r>
              <a:rPr lang="en-US" sz="1400" i="1" dirty="0">
                <a:solidFill>
                  <a:srgbClr val="C9D3DE"/>
                </a:solidFill>
                <a:latin typeface="Arial" pitchFamily="34" charset="0"/>
                <a:ea typeface="Arial" pitchFamily="34" charset="-122"/>
                <a:cs typeface="Arial" pitchFamily="34" charset="-120"/>
              </a:rPr>
              <a:t>How recon output becomes a pretext</a:t>
            </a:r>
            <a:endParaRPr lang="en-US" sz="1400" dirty="0"/>
          </a:p>
        </p:txBody>
      </p:sp>
      <p:sp>
        <p:nvSpPr>
          <p:cNvPr id="5" name="Shape 3"/>
          <p:cNvSpPr/>
          <p:nvPr/>
        </p:nvSpPr>
        <p:spPr>
          <a:xfrm>
            <a:off x="10195560" y="384048"/>
            <a:ext cx="1600200" cy="384048"/>
          </a:xfrm>
          <a:prstGeom prst="roundRect">
            <a:avLst>
              <a:gd name="adj" fmla="val 19048"/>
            </a:avLst>
          </a:prstGeom>
          <a:solidFill>
            <a:srgbClr val="3B8FC4"/>
          </a:solidFill>
          <a:ln/>
        </p:spPr>
      </p:sp>
      <p:sp>
        <p:nvSpPr>
          <p:cNvPr id="6" name="Text 4"/>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CONCEPT</a:t>
            </a:r>
            <a:endParaRPr lang="en-US" sz="1200" dirty="0"/>
          </a:p>
        </p:txBody>
      </p:sp>
      <p:sp>
        <p:nvSpPr>
          <p:cNvPr id="7" name="Shape 5"/>
          <p:cNvSpPr/>
          <p:nvPr/>
        </p:nvSpPr>
        <p:spPr>
          <a:xfrm>
            <a:off x="0" y="6473952"/>
            <a:ext cx="12161520" cy="384048"/>
          </a:xfrm>
          <a:prstGeom prst="rect">
            <a:avLst/>
          </a:prstGeom>
          <a:solidFill>
            <a:srgbClr val="2E2148"/>
          </a:solidFill>
          <a:ln/>
        </p:spPr>
      </p:sp>
      <p:sp>
        <p:nvSpPr>
          <p:cNvPr id="8" name="Text 6"/>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Social Engineering: Definition &amp; Types</a:t>
            </a:r>
            <a:endParaRPr lang="en-US" sz="2800" dirty="0"/>
          </a:p>
        </p:txBody>
      </p:sp>
      <p:sp>
        <p:nvSpPr>
          <p:cNvPr id="4" name="Shape 2"/>
          <p:cNvSpPr/>
          <p:nvPr/>
        </p:nvSpPr>
        <p:spPr>
          <a:xfrm>
            <a:off x="10195560" y="384048"/>
            <a:ext cx="1600200" cy="384048"/>
          </a:xfrm>
          <a:prstGeom prst="roundRect">
            <a:avLst>
              <a:gd name="adj" fmla="val 19048"/>
            </a:avLst>
          </a:prstGeom>
          <a:solidFill>
            <a:srgbClr val="3B8FC4"/>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CONCEPT</a:t>
            </a:r>
            <a:endParaRPr lang="en-US" sz="1200" dirty="0"/>
          </a:p>
        </p:txBody>
      </p:sp>
      <p:sp>
        <p:nvSpPr>
          <p:cNvPr id="6" name="Text 4"/>
          <p:cNvSpPr/>
          <p:nvPr/>
        </p:nvSpPr>
        <p:spPr>
          <a:xfrm>
            <a:off x="640080" y="1600200"/>
            <a:ext cx="10698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The art of manipulating or deceiving someone to gain access, information, or control they would not otherwise grant</a:t>
            </a:r>
            <a:endParaRPr lang="en-US" sz="1500" dirty="0"/>
          </a:p>
        </p:txBody>
      </p:sp>
      <p:sp>
        <p:nvSpPr>
          <p:cNvPr id="7" name="Text 5"/>
          <p:cNvSpPr/>
          <p:nvPr/>
        </p:nvSpPr>
        <p:spPr>
          <a:xfrm>
            <a:off x="640080" y="2505456"/>
            <a:ext cx="10698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Phishing / spear-phishing — targeted email; Vishing — voice-based; Smishing — SMS-based</a:t>
            </a:r>
            <a:endParaRPr lang="en-US" sz="1500" dirty="0"/>
          </a:p>
        </p:txBody>
      </p:sp>
      <p:sp>
        <p:nvSpPr>
          <p:cNvPr id="8" name="Text 6"/>
          <p:cNvSpPr/>
          <p:nvPr/>
        </p:nvSpPr>
        <p:spPr>
          <a:xfrm>
            <a:off x="640080" y="3410712"/>
            <a:ext cx="10698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Deepfake-enabled vishing is now a live vector — voice cloning makes a phone-based pretext far more convincing</a:t>
            </a:r>
            <a:endParaRPr lang="en-US" sz="1500" dirty="0"/>
          </a:p>
        </p:txBody>
      </p:sp>
      <p:sp>
        <p:nvSpPr>
          <p:cNvPr id="9" name="Text 7"/>
          <p:cNvSpPr/>
          <p:nvPr/>
        </p:nvSpPr>
        <p:spPr>
          <a:xfrm>
            <a:off x="640080" y="4315968"/>
            <a:ext cx="10698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Pretexting — a fabricated scenario built to justify a request for information or access</a:t>
            </a:r>
            <a:endParaRPr lang="en-US" sz="1500" dirty="0"/>
          </a:p>
        </p:txBody>
      </p:sp>
      <p:sp>
        <p:nvSpPr>
          <p:cNvPr id="10" name="Shape 8"/>
          <p:cNvSpPr/>
          <p:nvPr/>
        </p:nvSpPr>
        <p:spPr>
          <a:xfrm>
            <a:off x="0" y="6473952"/>
            <a:ext cx="12161520" cy="384048"/>
          </a:xfrm>
          <a:prstGeom prst="rect">
            <a:avLst/>
          </a:prstGeom>
          <a:solidFill>
            <a:srgbClr val="2E2148"/>
          </a:solidFill>
          <a:ln/>
        </p:spPr>
      </p:sp>
      <p:sp>
        <p:nvSpPr>
          <p:cNvPr id="11" name="Text 9"/>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Recon → Pretext: The Bridge</a:t>
            </a:r>
            <a:endParaRPr lang="en-US" sz="2800" dirty="0"/>
          </a:p>
        </p:txBody>
      </p:sp>
      <p:sp>
        <p:nvSpPr>
          <p:cNvPr id="4" name="Shape 2"/>
          <p:cNvSpPr/>
          <p:nvPr/>
        </p:nvSpPr>
        <p:spPr>
          <a:xfrm>
            <a:off x="10195560" y="384048"/>
            <a:ext cx="1600200" cy="384048"/>
          </a:xfrm>
          <a:prstGeom prst="roundRect">
            <a:avLst>
              <a:gd name="adj" fmla="val 19048"/>
            </a:avLst>
          </a:prstGeom>
          <a:solidFill>
            <a:srgbClr val="3B8FC4"/>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CONCEPT</a:t>
            </a:r>
            <a:endParaRPr lang="en-US" sz="1200" dirty="0"/>
          </a:p>
        </p:txBody>
      </p:sp>
      <p:sp>
        <p:nvSpPr>
          <p:cNvPr id="6" name="Text 4"/>
          <p:cNvSpPr/>
          <p:nvPr/>
        </p:nvSpPr>
        <p:spPr>
          <a:xfrm>
            <a:off x="640080" y="1600200"/>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Every SE pretext is only as good as the recon behind it — a name, a role, a project, a manager's name</a:t>
            </a:r>
            <a:endParaRPr lang="en-US" sz="1500" dirty="0"/>
          </a:p>
        </p:txBody>
      </p:sp>
      <p:sp>
        <p:nvSpPr>
          <p:cNvPr id="7" name="Text 5"/>
          <p:cNvSpPr/>
          <p:nvPr/>
        </p:nvSpPr>
        <p:spPr>
          <a:xfrm>
            <a:off x="640080" y="2505456"/>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The email-naming convention you infer from OSINT becomes the delivery address for the next stage</a:t>
            </a:r>
            <a:endParaRPr lang="en-US" sz="1500" dirty="0"/>
          </a:p>
        </p:txBody>
      </p:sp>
      <p:sp>
        <p:nvSpPr>
          <p:cNvPr id="8" name="Text 6"/>
          <p:cNvSpPr/>
          <p:nvPr/>
        </p:nvSpPr>
        <p:spPr>
          <a:xfrm>
            <a:off x="640080" y="3410712"/>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A dossier isn't the end product — it's raw material for a targeted campaign</a:t>
            </a:r>
            <a:endParaRPr lang="en-US" sz="1500" dirty="0"/>
          </a:p>
        </p:txBody>
      </p:sp>
      <p:sp>
        <p:nvSpPr>
          <p:cNvPr id="9" name="Text 7"/>
          <p:cNvSpPr/>
          <p:nvPr/>
        </p:nvSpPr>
        <p:spPr>
          <a:xfrm>
            <a:off x="640080" y="4206240"/>
            <a:ext cx="6126480" cy="685800"/>
          </a:xfrm>
          <a:prstGeom prst="rect">
            <a:avLst/>
          </a:prstGeom>
          <a:noFill/>
          <a:ln/>
        </p:spPr>
        <p:txBody>
          <a:bodyPr wrap="square" rtlCol="0" anchor="t"/>
          <a:lstStyle/>
          <a:p>
            <a:pPr indent="0" marL="0">
              <a:lnSpc>
                <a:spcPct val="115000"/>
              </a:lnSpc>
              <a:buNone/>
            </a:pPr>
            <a:r>
              <a:rPr lang="en-US" sz="1500" b="1" dirty="0">
                <a:solidFill>
                  <a:srgbClr val="E8A33D"/>
                </a:solidFill>
                <a:latin typeface="Arial" pitchFamily="34" charset="0"/>
                <a:ea typeface="Arial" pitchFamily="34" charset="-122"/>
                <a:cs typeface="Arial" pitchFamily="34" charset="-120"/>
              </a:rPr>
              <a:t>‣  </a:t>
            </a:r>
            <a:pPr indent="0" marL="0">
              <a:lnSpc>
                <a:spcPct val="115000"/>
              </a:lnSpc>
              <a:buNone/>
            </a:pPr>
            <a:r>
              <a:rPr lang="en-US" sz="1500" dirty="0">
                <a:solidFill>
                  <a:srgbClr val="C9D3DE"/>
                </a:solidFill>
                <a:latin typeface="Arial" pitchFamily="34" charset="0"/>
                <a:ea typeface="Arial" pitchFamily="34" charset="-122"/>
                <a:cs typeface="Arial" pitchFamily="34" charset="-120"/>
              </a:rPr>
              <a:t>This is the direct link into IW/HAK/15.4 (Gaining Access) later in the module</a:t>
            </a:r>
            <a:endParaRPr lang="en-US" sz="1500" dirty="0"/>
          </a:p>
        </p:txBody>
      </p:sp>
      <p:sp>
        <p:nvSpPr>
          <p:cNvPr id="10" name="Shape 8"/>
          <p:cNvSpPr/>
          <p:nvPr/>
        </p:nvSpPr>
        <p:spPr>
          <a:xfrm>
            <a:off x="7132320" y="1600200"/>
            <a:ext cx="4480560" cy="4297680"/>
          </a:xfrm>
          <a:prstGeom prst="rect">
            <a:avLst/>
          </a:prstGeom>
          <a:solidFill>
            <a:srgbClr val="10233A"/>
          </a:solidFill>
          <a:ln w="12700">
            <a:solidFill>
              <a:srgbClr val="8FA0B3"/>
            </a:solidFill>
            <a:prstDash val="dash"/>
          </a:ln>
        </p:spPr>
      </p:sp>
      <p:sp>
        <p:nvSpPr>
          <p:cNvPr id="11" name="Text 9"/>
          <p:cNvSpPr/>
          <p:nvPr/>
        </p:nvSpPr>
        <p:spPr>
          <a:xfrm>
            <a:off x="7269480" y="3474720"/>
            <a:ext cx="4206240" cy="548640"/>
          </a:xfrm>
          <a:prstGeom prst="rect">
            <a:avLst/>
          </a:prstGeom>
          <a:noFill/>
          <a:ln/>
        </p:spPr>
        <p:txBody>
          <a:bodyPr wrap="square" rtlCol="0" anchor="ctr"/>
          <a:lstStyle/>
          <a:p>
            <a:pPr algn="ctr" indent="0" marL="0">
              <a:buNone/>
            </a:pPr>
            <a:r>
              <a:rPr lang="en-US" sz="1100" i="1" dirty="0">
                <a:solidFill>
                  <a:srgbClr val="8FA0B3"/>
                </a:solidFill>
                <a:latin typeface="Arial" pitchFamily="34" charset="0"/>
                <a:ea typeface="Arial" pitchFamily="34" charset="-122"/>
                <a:cs typeface="Arial" pitchFamily="34" charset="-120"/>
              </a:rPr>
              <a:t>🖼  Recon-to-pretext flow diagram</a:t>
            </a:r>
            <a:endParaRPr lang="en-US" sz="1100" dirty="0"/>
          </a:p>
        </p:txBody>
      </p:sp>
      <p:sp>
        <p:nvSpPr>
          <p:cNvPr id="12" name="Shape 10"/>
          <p:cNvSpPr/>
          <p:nvPr/>
        </p:nvSpPr>
        <p:spPr>
          <a:xfrm>
            <a:off x="0" y="6473952"/>
            <a:ext cx="12161520" cy="384048"/>
          </a:xfrm>
          <a:prstGeom prst="rect">
            <a:avLst/>
          </a:prstGeom>
          <a:solidFill>
            <a:srgbClr val="2E2148"/>
          </a:solidFill>
          <a:ln/>
        </p:spPr>
      </p:sp>
      <p:sp>
        <p:nvSpPr>
          <p:cNvPr id="13" name="Text 11"/>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81420"/>
        </a:solidFill>
      </p:bgPr>
    </p:bg>
    <p:spTree>
      <p:nvGrpSpPr>
        <p:cNvPr id="1" name=""/>
        <p:cNvGrpSpPr/>
        <p:nvPr/>
      </p:nvGrpSpPr>
      <p:grpSpPr>
        <a:xfrm>
          <a:off x="0" y="0"/>
          <a:ext cx="0" cy="0"/>
          <a:chOff x="0" y="0"/>
          <a:chExt cx="0" cy="0"/>
        </a:xfrm>
      </p:grpSpPr>
      <p:sp>
        <p:nvSpPr>
          <p:cNvPr id="2" name="Text 0"/>
          <p:cNvSpPr/>
          <p:nvPr/>
        </p:nvSpPr>
        <p:spPr>
          <a:xfrm>
            <a:off x="640080" y="2331720"/>
            <a:ext cx="7315200" cy="457200"/>
          </a:xfrm>
          <a:prstGeom prst="rect">
            <a:avLst/>
          </a:prstGeom>
          <a:noFill/>
          <a:ln/>
        </p:spPr>
        <p:txBody>
          <a:bodyPr wrap="square" rtlCol="0" anchor="ctr"/>
          <a:lstStyle/>
          <a:p>
            <a:pPr indent="0" marL="0">
              <a:buNone/>
            </a:pPr>
            <a:r>
              <a:rPr lang="en-US" sz="1400" b="1" spc="200" kern="0" dirty="0">
                <a:solidFill>
                  <a:srgbClr val="E8A33D"/>
                </a:solidFill>
                <a:latin typeface="Arial" pitchFamily="34" charset="0"/>
                <a:ea typeface="Arial" pitchFamily="34" charset="-122"/>
                <a:cs typeface="Arial" pitchFamily="34" charset="-120"/>
              </a:rPr>
              <a:t>SEGMENT 6</a:t>
            </a:r>
            <a:endParaRPr lang="en-US" sz="1400" dirty="0"/>
          </a:p>
        </p:txBody>
      </p:sp>
      <p:sp>
        <p:nvSpPr>
          <p:cNvPr id="3" name="Text 1"/>
          <p:cNvSpPr/>
          <p:nvPr/>
        </p:nvSpPr>
        <p:spPr>
          <a:xfrm>
            <a:off x="640080" y="2743200"/>
            <a:ext cx="10515600" cy="1005840"/>
          </a:xfrm>
          <a:prstGeom prst="rect">
            <a:avLst/>
          </a:prstGeom>
          <a:noFill/>
          <a:ln/>
        </p:spPr>
        <p:txBody>
          <a:bodyPr wrap="square" rtlCol="0" anchor="ctr"/>
          <a:lstStyle/>
          <a:p>
            <a:pPr indent="0" marL="0">
              <a:buNone/>
            </a:pPr>
            <a:r>
              <a:rPr lang="en-US" sz="4200" b="1" dirty="0">
                <a:solidFill>
                  <a:srgbClr val="FFFFFF"/>
                </a:solidFill>
                <a:latin typeface="Arial" pitchFamily="34" charset="0"/>
                <a:ea typeface="Arial" pitchFamily="34" charset="-122"/>
                <a:cs typeface="Arial" pitchFamily="34" charset="-120"/>
              </a:rPr>
              <a:t>SET Walkthrough</a:t>
            </a:r>
            <a:endParaRPr lang="en-US" sz="4200" dirty="0"/>
          </a:p>
        </p:txBody>
      </p:sp>
      <p:sp>
        <p:nvSpPr>
          <p:cNvPr id="4" name="Text 2"/>
          <p:cNvSpPr/>
          <p:nvPr/>
        </p:nvSpPr>
        <p:spPr>
          <a:xfrm>
            <a:off x="640080" y="3703320"/>
            <a:ext cx="9601200" cy="457200"/>
          </a:xfrm>
          <a:prstGeom prst="rect">
            <a:avLst/>
          </a:prstGeom>
          <a:noFill/>
          <a:ln/>
        </p:spPr>
        <p:txBody>
          <a:bodyPr wrap="square" rtlCol="0" anchor="ctr"/>
          <a:lstStyle/>
          <a:p>
            <a:pPr indent="0" marL="0">
              <a:buNone/>
            </a:pPr>
            <a:r>
              <a:rPr lang="en-US" sz="1400" i="1" dirty="0">
                <a:solidFill>
                  <a:srgbClr val="C9D3DE"/>
                </a:solidFill>
                <a:latin typeface="Arial" pitchFamily="34" charset="0"/>
                <a:ea typeface="Arial" pitchFamily="34" charset="-122"/>
                <a:cs typeface="Arial" pitchFamily="34" charset="-120"/>
              </a:rPr>
              <a:t>Kali VM (attacker) → Ubuntu VM (Apex Dynamics decoy target) — air-gapped</a:t>
            </a:r>
            <a:endParaRPr lang="en-US" sz="1400" dirty="0"/>
          </a:p>
        </p:txBody>
      </p:sp>
      <p:sp>
        <p:nvSpPr>
          <p:cNvPr id="5" name="Shape 3"/>
          <p:cNvSpPr/>
          <p:nvPr/>
        </p:nvSpPr>
        <p:spPr>
          <a:xfrm>
            <a:off x="10195560" y="384048"/>
            <a:ext cx="1600200" cy="384048"/>
          </a:xfrm>
          <a:prstGeom prst="roundRect">
            <a:avLst>
              <a:gd name="adj" fmla="val 19048"/>
            </a:avLst>
          </a:prstGeom>
          <a:solidFill>
            <a:srgbClr val="E8A33D"/>
          </a:solidFill>
          <a:ln/>
        </p:spPr>
      </p:sp>
      <p:sp>
        <p:nvSpPr>
          <p:cNvPr id="6" name="Text 4"/>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DEMO</a:t>
            </a:r>
            <a:endParaRPr lang="en-US" sz="1200" dirty="0"/>
          </a:p>
        </p:txBody>
      </p:sp>
      <p:sp>
        <p:nvSpPr>
          <p:cNvPr id="7" name="Shape 5"/>
          <p:cNvSpPr/>
          <p:nvPr/>
        </p:nvSpPr>
        <p:spPr>
          <a:xfrm>
            <a:off x="0" y="6473952"/>
            <a:ext cx="12161520" cy="384048"/>
          </a:xfrm>
          <a:prstGeom prst="rect">
            <a:avLst/>
          </a:prstGeom>
          <a:solidFill>
            <a:srgbClr val="2E2148"/>
          </a:solidFill>
          <a:ln/>
        </p:spPr>
      </p:sp>
      <p:sp>
        <p:nvSpPr>
          <p:cNvPr id="8" name="Text 6"/>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Demo — Social-Engineer Toolkit (SET)</a:t>
            </a:r>
            <a:endParaRPr lang="en-US" sz="2800" dirty="0"/>
          </a:p>
        </p:txBody>
      </p:sp>
      <p:sp>
        <p:nvSpPr>
          <p:cNvPr id="4" name="Shape 2"/>
          <p:cNvSpPr/>
          <p:nvPr/>
        </p:nvSpPr>
        <p:spPr>
          <a:xfrm>
            <a:off x="10195560" y="384048"/>
            <a:ext cx="1600200" cy="384048"/>
          </a:xfrm>
          <a:prstGeom prst="roundRect">
            <a:avLst>
              <a:gd name="adj" fmla="val 19048"/>
            </a:avLst>
          </a:prstGeom>
          <a:solidFill>
            <a:srgbClr val="E8A33D"/>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DEMO</a:t>
            </a:r>
            <a:endParaRPr lang="en-US" sz="1200" dirty="0"/>
          </a:p>
        </p:txBody>
      </p:sp>
      <p:sp>
        <p:nvSpPr>
          <p:cNvPr id="6" name="Shape 4"/>
          <p:cNvSpPr/>
          <p:nvPr/>
        </p:nvSpPr>
        <p:spPr>
          <a:xfrm>
            <a:off x="548640" y="1417320"/>
            <a:ext cx="11064240" cy="4114800"/>
          </a:xfrm>
          <a:prstGeom prst="roundRect">
            <a:avLst>
              <a:gd name="adj" fmla="val 1333"/>
            </a:avLst>
          </a:prstGeom>
          <a:solidFill>
            <a:srgbClr val="F5E8C0"/>
          </a:solidFill>
          <a:ln/>
        </p:spPr>
      </p:sp>
      <p:sp>
        <p:nvSpPr>
          <p:cNvPr id="7" name="Shape 5"/>
          <p:cNvSpPr/>
          <p:nvPr/>
        </p:nvSpPr>
        <p:spPr>
          <a:xfrm>
            <a:off x="868680" y="1737360"/>
            <a:ext cx="10424160" cy="3200400"/>
          </a:xfrm>
          <a:prstGeom prst="roundRect">
            <a:avLst>
              <a:gd name="adj" fmla="val 1429"/>
            </a:avLst>
          </a:prstGeom>
          <a:solidFill>
            <a:srgbClr val="081420"/>
          </a:solidFill>
          <a:ln/>
        </p:spPr>
      </p:sp>
      <p:sp>
        <p:nvSpPr>
          <p:cNvPr id="8" name="Text 6"/>
          <p:cNvSpPr/>
          <p:nvPr/>
        </p:nvSpPr>
        <p:spPr>
          <a:xfrm>
            <a:off x="1097280" y="1920240"/>
            <a:ext cx="9966960" cy="2834640"/>
          </a:xfrm>
          <a:prstGeom prst="rect">
            <a:avLst/>
          </a:prstGeom>
          <a:noFill/>
          <a:ln/>
        </p:spPr>
        <p:txBody>
          <a:bodyPr wrap="square" rtlCol="0" anchor="t"/>
          <a:lstStyle/>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 sudo setoolkit</a:t>
            </a:r>
            <a:endParaRPr lang="en-US" sz="1300" dirty="0"/>
          </a:p>
          <a:p>
            <a:pPr indent="0" marL="0">
              <a:lnSpc>
                <a:spcPct val="125000"/>
              </a:lnSpc>
              <a:buNone/>
            </a:pP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1) Social-Engineering Attacks</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  2) Website Attack Vectors</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    2) Credential Harvester Attack Method</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      2) Site Cloner  →  point at decoy login page</a:t>
            </a:r>
            <a:endParaRPr lang="en-US" sz="1300" dirty="0"/>
          </a:p>
          <a:p>
            <a:pPr indent="0" marL="0">
              <a:lnSpc>
                <a:spcPct val="125000"/>
              </a:lnSpc>
              <a:buNone/>
            </a:pP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9) QRCode Generator Attack Vector</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  → generate malicious QR, discuss mobile risk</a:t>
            </a:r>
            <a:endParaRPr lang="en-US" sz="1300" dirty="0"/>
          </a:p>
        </p:txBody>
      </p:sp>
      <p:sp>
        <p:nvSpPr>
          <p:cNvPr id="9" name="Text 7"/>
          <p:cNvSpPr/>
          <p:nvPr/>
        </p:nvSpPr>
        <p:spPr>
          <a:xfrm>
            <a:off x="868680" y="5029200"/>
            <a:ext cx="10424160" cy="365760"/>
          </a:xfrm>
          <a:prstGeom prst="rect">
            <a:avLst/>
          </a:prstGeom>
          <a:noFill/>
          <a:ln/>
        </p:spPr>
        <p:txBody>
          <a:bodyPr wrap="square" rtlCol="0" anchor="ctr"/>
          <a:lstStyle/>
          <a:p>
            <a:pPr indent="0" marL="0">
              <a:buNone/>
            </a:pPr>
            <a:r>
              <a:rPr lang="en-US" sz="1150" i="1" dirty="0">
                <a:solidFill>
                  <a:srgbClr val="1B1B2F"/>
                </a:solidFill>
                <a:latin typeface="Arial" pitchFamily="34" charset="0"/>
                <a:ea typeface="Arial" pitchFamily="34" charset="-122"/>
                <a:cs typeface="Arial" pitchFamily="34" charset="-120"/>
              </a:rPr>
              <a:t>Kali VM, air-gapped LAN. Target: Apex Dynamics decoy login page on the Ubuntu VM. Stop before any live send — mechanics only.</a:t>
            </a:r>
            <a:endParaRPr lang="en-US" sz="1150" dirty="0"/>
          </a:p>
        </p:txBody>
      </p:sp>
      <p:sp>
        <p:nvSpPr>
          <p:cNvPr id="10" name="Shape 8"/>
          <p:cNvSpPr/>
          <p:nvPr/>
        </p:nvSpPr>
        <p:spPr>
          <a:xfrm>
            <a:off x="0" y="6473952"/>
            <a:ext cx="12161520" cy="384048"/>
          </a:xfrm>
          <a:prstGeom prst="rect">
            <a:avLst/>
          </a:prstGeom>
          <a:solidFill>
            <a:srgbClr val="2E2148"/>
          </a:solidFill>
          <a:ln/>
        </p:spPr>
      </p:sp>
      <p:sp>
        <p:nvSpPr>
          <p:cNvPr id="11" name="Text 9"/>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81420"/>
        </a:solidFill>
      </p:bgPr>
    </p:bg>
    <p:spTree>
      <p:nvGrpSpPr>
        <p:cNvPr id="1" name=""/>
        <p:cNvGrpSpPr/>
        <p:nvPr/>
      </p:nvGrpSpPr>
      <p:grpSpPr>
        <a:xfrm>
          <a:off x="0" y="0"/>
          <a:ext cx="0" cy="0"/>
          <a:chOff x="0" y="0"/>
          <a:chExt cx="0" cy="0"/>
        </a:xfrm>
      </p:grpSpPr>
      <p:sp>
        <p:nvSpPr>
          <p:cNvPr id="2" name="Text 0"/>
          <p:cNvSpPr/>
          <p:nvPr/>
        </p:nvSpPr>
        <p:spPr>
          <a:xfrm>
            <a:off x="640080" y="2331720"/>
            <a:ext cx="7315200" cy="457200"/>
          </a:xfrm>
          <a:prstGeom prst="rect">
            <a:avLst/>
          </a:prstGeom>
          <a:noFill/>
          <a:ln/>
        </p:spPr>
        <p:txBody>
          <a:bodyPr wrap="square" rtlCol="0" anchor="ctr"/>
          <a:lstStyle/>
          <a:p>
            <a:pPr indent="0" marL="0">
              <a:buNone/>
            </a:pPr>
            <a:r>
              <a:rPr lang="en-US" sz="1400" b="1" spc="200" kern="0" dirty="0">
                <a:solidFill>
                  <a:srgbClr val="E8A33D"/>
                </a:solidFill>
                <a:latin typeface="Arial" pitchFamily="34" charset="0"/>
                <a:ea typeface="Arial" pitchFamily="34" charset="-122"/>
                <a:cs typeface="Arial" pitchFamily="34" charset="-120"/>
              </a:rPr>
              <a:t>SEGMENT 7</a:t>
            </a:r>
            <a:endParaRPr lang="en-US" sz="1400" dirty="0"/>
          </a:p>
        </p:txBody>
      </p:sp>
      <p:sp>
        <p:nvSpPr>
          <p:cNvPr id="3" name="Text 1"/>
          <p:cNvSpPr/>
          <p:nvPr/>
        </p:nvSpPr>
        <p:spPr>
          <a:xfrm>
            <a:off x="640080" y="2743200"/>
            <a:ext cx="10515600" cy="1005840"/>
          </a:xfrm>
          <a:prstGeom prst="rect">
            <a:avLst/>
          </a:prstGeom>
          <a:noFill/>
          <a:ln/>
        </p:spPr>
        <p:txBody>
          <a:bodyPr wrap="square" rtlCol="0" anchor="ctr"/>
          <a:lstStyle/>
          <a:p>
            <a:pPr indent="0" marL="0">
              <a:buNone/>
            </a:pPr>
            <a:r>
              <a:rPr lang="en-US" sz="4200" b="1" dirty="0">
                <a:solidFill>
                  <a:srgbClr val="FFFFFF"/>
                </a:solidFill>
                <a:latin typeface="Arial" pitchFamily="34" charset="0"/>
                <a:ea typeface="Arial" pitchFamily="34" charset="-122"/>
                <a:cs typeface="Arial" pitchFamily="34" charset="-120"/>
              </a:rPr>
              <a:t>GoPhish Walkthrough</a:t>
            </a:r>
            <a:endParaRPr lang="en-US" sz="4200" dirty="0"/>
          </a:p>
        </p:txBody>
      </p:sp>
      <p:sp>
        <p:nvSpPr>
          <p:cNvPr id="4" name="Text 2"/>
          <p:cNvSpPr/>
          <p:nvPr/>
        </p:nvSpPr>
        <p:spPr>
          <a:xfrm>
            <a:off x="640080" y="3703320"/>
            <a:ext cx="9601200" cy="457200"/>
          </a:xfrm>
          <a:prstGeom prst="rect">
            <a:avLst/>
          </a:prstGeom>
          <a:noFill/>
          <a:ln/>
        </p:spPr>
        <p:txBody>
          <a:bodyPr wrap="square" rtlCol="0" anchor="ctr"/>
          <a:lstStyle/>
          <a:p>
            <a:pPr indent="0" marL="0">
              <a:buNone/>
            </a:pPr>
            <a:r>
              <a:rPr lang="en-US" sz="1400" i="1" dirty="0">
                <a:solidFill>
                  <a:srgbClr val="C9D3DE"/>
                </a:solidFill>
                <a:latin typeface="Arial" pitchFamily="34" charset="0"/>
                <a:ea typeface="Arial" pitchFamily="34" charset="-122"/>
                <a:cs typeface="Arial" pitchFamily="34" charset="-120"/>
              </a:rPr>
              <a:t>Kali VM → Ubuntu VM decoy mailbox — air-gapped</a:t>
            </a:r>
            <a:endParaRPr lang="en-US" sz="1400" dirty="0"/>
          </a:p>
        </p:txBody>
      </p:sp>
      <p:sp>
        <p:nvSpPr>
          <p:cNvPr id="5" name="Shape 3"/>
          <p:cNvSpPr/>
          <p:nvPr/>
        </p:nvSpPr>
        <p:spPr>
          <a:xfrm>
            <a:off x="10195560" y="384048"/>
            <a:ext cx="1600200" cy="384048"/>
          </a:xfrm>
          <a:prstGeom prst="roundRect">
            <a:avLst>
              <a:gd name="adj" fmla="val 19048"/>
            </a:avLst>
          </a:prstGeom>
          <a:solidFill>
            <a:srgbClr val="E8A33D"/>
          </a:solidFill>
          <a:ln/>
        </p:spPr>
      </p:sp>
      <p:sp>
        <p:nvSpPr>
          <p:cNvPr id="6" name="Text 4"/>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DEMO</a:t>
            </a:r>
            <a:endParaRPr lang="en-US" sz="1200" dirty="0"/>
          </a:p>
        </p:txBody>
      </p:sp>
      <p:sp>
        <p:nvSpPr>
          <p:cNvPr id="7" name="Shape 5"/>
          <p:cNvSpPr/>
          <p:nvPr/>
        </p:nvSpPr>
        <p:spPr>
          <a:xfrm>
            <a:off x="0" y="6473952"/>
            <a:ext cx="12161520" cy="384048"/>
          </a:xfrm>
          <a:prstGeom prst="rect">
            <a:avLst/>
          </a:prstGeom>
          <a:solidFill>
            <a:srgbClr val="2E2148"/>
          </a:solidFill>
          <a:ln/>
        </p:spPr>
      </p:sp>
      <p:sp>
        <p:nvSpPr>
          <p:cNvPr id="8" name="Text 6"/>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Demo — GoPhish Campaign</a:t>
            </a:r>
            <a:endParaRPr lang="en-US" sz="2800" dirty="0"/>
          </a:p>
        </p:txBody>
      </p:sp>
      <p:sp>
        <p:nvSpPr>
          <p:cNvPr id="4" name="Shape 2"/>
          <p:cNvSpPr/>
          <p:nvPr/>
        </p:nvSpPr>
        <p:spPr>
          <a:xfrm>
            <a:off x="10195560" y="384048"/>
            <a:ext cx="1600200" cy="384048"/>
          </a:xfrm>
          <a:prstGeom prst="roundRect">
            <a:avLst>
              <a:gd name="adj" fmla="val 19048"/>
            </a:avLst>
          </a:prstGeom>
          <a:solidFill>
            <a:srgbClr val="E8A33D"/>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DEMO</a:t>
            </a:r>
            <a:endParaRPr lang="en-US" sz="1200" dirty="0"/>
          </a:p>
        </p:txBody>
      </p:sp>
      <p:sp>
        <p:nvSpPr>
          <p:cNvPr id="6" name="Shape 4"/>
          <p:cNvSpPr/>
          <p:nvPr/>
        </p:nvSpPr>
        <p:spPr>
          <a:xfrm>
            <a:off x="548640" y="1417320"/>
            <a:ext cx="11064240" cy="4114800"/>
          </a:xfrm>
          <a:prstGeom prst="roundRect">
            <a:avLst>
              <a:gd name="adj" fmla="val 1333"/>
            </a:avLst>
          </a:prstGeom>
          <a:solidFill>
            <a:srgbClr val="F5E8C0"/>
          </a:solidFill>
          <a:ln/>
        </p:spPr>
      </p:sp>
      <p:sp>
        <p:nvSpPr>
          <p:cNvPr id="7" name="Shape 5"/>
          <p:cNvSpPr/>
          <p:nvPr/>
        </p:nvSpPr>
        <p:spPr>
          <a:xfrm>
            <a:off x="868680" y="1737360"/>
            <a:ext cx="10424160" cy="3200400"/>
          </a:xfrm>
          <a:prstGeom prst="roundRect">
            <a:avLst>
              <a:gd name="adj" fmla="val 1429"/>
            </a:avLst>
          </a:prstGeom>
          <a:solidFill>
            <a:srgbClr val="081420"/>
          </a:solidFill>
          <a:ln/>
        </p:spPr>
      </p:sp>
      <p:sp>
        <p:nvSpPr>
          <p:cNvPr id="8" name="Text 6"/>
          <p:cNvSpPr/>
          <p:nvPr/>
        </p:nvSpPr>
        <p:spPr>
          <a:xfrm>
            <a:off x="1097280" y="1920240"/>
            <a:ext cx="9966960" cy="2834640"/>
          </a:xfrm>
          <a:prstGeom prst="rect">
            <a:avLst/>
          </a:prstGeom>
          <a:noFill/>
          <a:ln/>
        </p:spPr>
        <p:txBody>
          <a:bodyPr wrap="square" rtlCol="0" anchor="t"/>
          <a:lstStyle/>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1. Setup admin credentials + sending profile (local SMTP)</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2. Design landing page (clone of Apex Dynamics login)</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3. Build email template using the persona list</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4. Create campaign → target Apex decoy mailboxes</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5. Launch → observe opens / clicks / submissions</a:t>
            </a:r>
            <a:endParaRPr lang="en-US" sz="1300" dirty="0"/>
          </a:p>
          <a:p>
            <a:pPr indent="0" marL="0">
              <a:lnSpc>
                <a:spcPct val="125000"/>
              </a:lnSpc>
              <a:buNone/>
            </a:pPr>
            <a:r>
              <a:rPr lang="en-US" sz="1300" dirty="0">
                <a:solidFill>
                  <a:srgbClr val="8FD694"/>
                </a:solidFill>
                <a:latin typeface="Consolas" pitchFamily="34" charset="0"/>
                <a:ea typeface="Consolas" pitchFamily="34" charset="-122"/>
                <a:cs typeface="Consolas" pitchFamily="34" charset="-120"/>
              </a:rPr>
              <a:t>6. Review the reporting dashboard as the real deliverable</a:t>
            </a:r>
            <a:endParaRPr lang="en-US" sz="1300" dirty="0"/>
          </a:p>
        </p:txBody>
      </p:sp>
      <p:sp>
        <p:nvSpPr>
          <p:cNvPr id="9" name="Text 7"/>
          <p:cNvSpPr/>
          <p:nvPr/>
        </p:nvSpPr>
        <p:spPr>
          <a:xfrm>
            <a:off x="868680" y="5029200"/>
            <a:ext cx="10424160" cy="365760"/>
          </a:xfrm>
          <a:prstGeom prst="rect">
            <a:avLst/>
          </a:prstGeom>
          <a:noFill/>
          <a:ln/>
        </p:spPr>
        <p:txBody>
          <a:bodyPr wrap="square" rtlCol="0" anchor="ctr"/>
          <a:lstStyle/>
          <a:p>
            <a:pPr indent="0" marL="0">
              <a:buNone/>
            </a:pPr>
            <a:r>
              <a:rPr lang="en-US" sz="1150" i="1" dirty="0">
                <a:solidFill>
                  <a:srgbClr val="1B1B2F"/>
                </a:solidFill>
                <a:latin typeface="Arial" pitchFamily="34" charset="0"/>
                <a:ea typeface="Arial" pitchFamily="34" charset="-122"/>
                <a:cs typeface="Arial" pitchFamily="34" charset="-120"/>
              </a:rPr>
              <a:t>Kali or Debian VM, air-gapped LAN. Fully self-contained — no live internet dependency.</a:t>
            </a:r>
            <a:endParaRPr lang="en-US" sz="1150" dirty="0"/>
          </a:p>
        </p:txBody>
      </p:sp>
      <p:sp>
        <p:nvSpPr>
          <p:cNvPr id="10" name="Shape 8"/>
          <p:cNvSpPr/>
          <p:nvPr/>
        </p:nvSpPr>
        <p:spPr>
          <a:xfrm>
            <a:off x="0" y="6473952"/>
            <a:ext cx="12161520" cy="384048"/>
          </a:xfrm>
          <a:prstGeom prst="rect">
            <a:avLst/>
          </a:prstGeom>
          <a:solidFill>
            <a:srgbClr val="2E2148"/>
          </a:solidFill>
          <a:ln/>
        </p:spPr>
      </p:sp>
      <p:sp>
        <p:nvSpPr>
          <p:cNvPr id="11" name="Text 9"/>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81420"/>
        </a:solidFill>
      </p:bgPr>
    </p:bg>
    <p:spTree>
      <p:nvGrpSpPr>
        <p:cNvPr id="1" name=""/>
        <p:cNvGrpSpPr/>
        <p:nvPr/>
      </p:nvGrpSpPr>
      <p:grpSpPr>
        <a:xfrm>
          <a:off x="0" y="0"/>
          <a:ext cx="0" cy="0"/>
          <a:chOff x="0" y="0"/>
          <a:chExt cx="0" cy="0"/>
        </a:xfrm>
      </p:grpSpPr>
      <p:sp>
        <p:nvSpPr>
          <p:cNvPr id="2" name="Text 0"/>
          <p:cNvSpPr/>
          <p:nvPr/>
        </p:nvSpPr>
        <p:spPr>
          <a:xfrm>
            <a:off x="640080" y="2331720"/>
            <a:ext cx="7315200" cy="457200"/>
          </a:xfrm>
          <a:prstGeom prst="rect">
            <a:avLst/>
          </a:prstGeom>
          <a:noFill/>
          <a:ln/>
        </p:spPr>
        <p:txBody>
          <a:bodyPr wrap="square" rtlCol="0" anchor="ctr"/>
          <a:lstStyle/>
          <a:p>
            <a:pPr indent="0" marL="0">
              <a:buNone/>
            </a:pPr>
            <a:r>
              <a:rPr lang="en-US" sz="1400" b="1" spc="200" kern="0" dirty="0">
                <a:solidFill>
                  <a:srgbClr val="E8A33D"/>
                </a:solidFill>
                <a:latin typeface="Arial" pitchFamily="34" charset="0"/>
                <a:ea typeface="Arial" pitchFamily="34" charset="-122"/>
                <a:cs typeface="Arial" pitchFamily="34" charset="-120"/>
              </a:rPr>
              <a:t>SEGMENT 8</a:t>
            </a:r>
            <a:endParaRPr lang="en-US" sz="1400" dirty="0"/>
          </a:p>
        </p:txBody>
      </p:sp>
      <p:sp>
        <p:nvSpPr>
          <p:cNvPr id="3" name="Text 1"/>
          <p:cNvSpPr/>
          <p:nvPr/>
        </p:nvSpPr>
        <p:spPr>
          <a:xfrm>
            <a:off x="640080" y="2743200"/>
            <a:ext cx="10515600" cy="1005840"/>
          </a:xfrm>
          <a:prstGeom prst="rect">
            <a:avLst/>
          </a:prstGeom>
          <a:noFill/>
          <a:ln/>
        </p:spPr>
        <p:txBody>
          <a:bodyPr wrap="square" rtlCol="0" anchor="ctr"/>
          <a:lstStyle/>
          <a:p>
            <a:pPr indent="0" marL="0">
              <a:buNone/>
            </a:pPr>
            <a:r>
              <a:rPr lang="en-US" sz="4200" b="1" dirty="0">
                <a:solidFill>
                  <a:srgbClr val="FFFFFF"/>
                </a:solidFill>
                <a:latin typeface="Arial" pitchFamily="34" charset="0"/>
                <a:ea typeface="Arial" pitchFamily="34" charset="-122"/>
                <a:cs typeface="Arial" pitchFamily="34" charset="-120"/>
              </a:rPr>
              <a:t>Air-Gapped Exercise</a:t>
            </a:r>
            <a:endParaRPr lang="en-US" sz="4200" dirty="0"/>
          </a:p>
        </p:txBody>
      </p:sp>
      <p:sp>
        <p:nvSpPr>
          <p:cNvPr id="4" name="Text 2"/>
          <p:cNvSpPr/>
          <p:nvPr/>
        </p:nvSpPr>
        <p:spPr>
          <a:xfrm>
            <a:off x="640080" y="3703320"/>
            <a:ext cx="9601200" cy="457200"/>
          </a:xfrm>
          <a:prstGeom prst="rect">
            <a:avLst/>
          </a:prstGeom>
          <a:noFill/>
          <a:ln/>
        </p:spPr>
        <p:txBody>
          <a:bodyPr wrap="square" rtlCol="0" anchor="ctr"/>
          <a:lstStyle/>
          <a:p>
            <a:pPr indent="0" marL="0">
              <a:buNone/>
            </a:pPr>
            <a:r>
              <a:rPr lang="en-US" sz="1400" i="1" dirty="0">
                <a:solidFill>
                  <a:srgbClr val="C9D3DE"/>
                </a:solidFill>
                <a:latin typeface="Arial" pitchFamily="34" charset="0"/>
                <a:ea typeface="Arial" pitchFamily="34" charset="-122"/>
                <a:cs typeface="Arial" pitchFamily="34" charset="-120"/>
              </a:rPr>
              <a:t>Individual recon, shared target — Kali VM per trainee → Ubuntu VM (Apex Dynamics)</a:t>
            </a:r>
            <a:endParaRPr lang="en-US" sz="1400" dirty="0"/>
          </a:p>
        </p:txBody>
      </p:sp>
      <p:sp>
        <p:nvSpPr>
          <p:cNvPr id="5" name="Shape 3"/>
          <p:cNvSpPr/>
          <p:nvPr/>
        </p:nvSpPr>
        <p:spPr>
          <a:xfrm>
            <a:off x="10195560" y="384048"/>
            <a:ext cx="1600200" cy="384048"/>
          </a:xfrm>
          <a:prstGeom prst="roundRect">
            <a:avLst>
              <a:gd name="adj" fmla="val 19048"/>
            </a:avLst>
          </a:prstGeom>
          <a:solidFill>
            <a:srgbClr val="5FA777"/>
          </a:solidFill>
          <a:ln/>
        </p:spPr>
      </p:sp>
      <p:sp>
        <p:nvSpPr>
          <p:cNvPr id="6" name="Text 4"/>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PRACTICE</a:t>
            </a:r>
            <a:endParaRPr lang="en-US" sz="1200" dirty="0"/>
          </a:p>
        </p:txBody>
      </p:sp>
      <p:sp>
        <p:nvSpPr>
          <p:cNvPr id="7" name="Shape 5"/>
          <p:cNvSpPr/>
          <p:nvPr/>
        </p:nvSpPr>
        <p:spPr>
          <a:xfrm>
            <a:off x="0" y="6473952"/>
            <a:ext cx="12161520" cy="384048"/>
          </a:xfrm>
          <a:prstGeom prst="rect">
            <a:avLst/>
          </a:prstGeom>
          <a:solidFill>
            <a:srgbClr val="2E2148"/>
          </a:solidFill>
          <a:ln/>
        </p:spPr>
      </p:sp>
      <p:sp>
        <p:nvSpPr>
          <p:cNvPr id="8" name="Text 6"/>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502920" y="256032"/>
            <a:ext cx="7315200" cy="274320"/>
          </a:xfrm>
          <a:prstGeom prst="rect">
            <a:avLst/>
          </a:prstGeom>
          <a:noFill/>
          <a:ln/>
        </p:spPr>
        <p:txBody>
          <a:bodyPr wrap="square" rtlCol="0" anchor="ctr"/>
          <a:lstStyle/>
          <a:p>
            <a:pPr indent="0" marL="0">
              <a:buNone/>
            </a:pPr>
            <a:r>
              <a:rPr lang="en-US" sz="1000" b="1" spc="100" kern="0" dirty="0">
                <a:solidFill>
                  <a:srgbClr val="8FA0B3"/>
                </a:solidFill>
                <a:latin typeface="Arial" pitchFamily="34" charset="0"/>
                <a:ea typeface="Arial" pitchFamily="34" charset="-122"/>
                <a:cs typeface="Arial" pitchFamily="34" charset="-120"/>
              </a:rPr>
              <a:t>OSINT &amp; SOCIAL ENGINEERING  ·  IW/HAK/15.3</a:t>
            </a:r>
            <a:endParaRPr lang="en-US" sz="1000" dirty="0"/>
          </a:p>
        </p:txBody>
      </p:sp>
      <p:sp>
        <p:nvSpPr>
          <p:cNvPr id="3" name="Text 1"/>
          <p:cNvSpPr/>
          <p:nvPr/>
        </p:nvSpPr>
        <p:spPr>
          <a:xfrm>
            <a:off x="457200" y="502920"/>
            <a:ext cx="9418320" cy="6858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Guided Exercise — Apex Dynamics Recon Dossier</a:t>
            </a:r>
            <a:endParaRPr lang="en-US" sz="2800" dirty="0"/>
          </a:p>
        </p:txBody>
      </p:sp>
      <p:sp>
        <p:nvSpPr>
          <p:cNvPr id="4" name="Shape 2"/>
          <p:cNvSpPr/>
          <p:nvPr/>
        </p:nvSpPr>
        <p:spPr>
          <a:xfrm>
            <a:off x="10195560" y="384048"/>
            <a:ext cx="1600200" cy="384048"/>
          </a:xfrm>
          <a:prstGeom prst="roundRect">
            <a:avLst>
              <a:gd name="adj" fmla="val 19048"/>
            </a:avLst>
          </a:prstGeom>
          <a:solidFill>
            <a:srgbClr val="5FA777"/>
          </a:solidFill>
          <a:ln/>
        </p:spPr>
      </p:sp>
      <p:sp>
        <p:nvSpPr>
          <p:cNvPr id="5" name="Text 3"/>
          <p:cNvSpPr/>
          <p:nvPr/>
        </p:nvSpPr>
        <p:spPr>
          <a:xfrm>
            <a:off x="10195560" y="384048"/>
            <a:ext cx="1600200" cy="384048"/>
          </a:xfrm>
          <a:prstGeom prst="rect">
            <a:avLst/>
          </a:prstGeom>
          <a:noFill/>
          <a:ln/>
        </p:spPr>
        <p:txBody>
          <a:bodyPr wrap="square" rtlCol="0" anchor="ctr"/>
          <a:lstStyle/>
          <a:p>
            <a:pPr algn="ctr" indent="0" marL="0">
              <a:buNone/>
            </a:pPr>
            <a:r>
              <a:rPr lang="en-US" sz="1200" b="1" spc="100" kern="0" dirty="0">
                <a:solidFill>
                  <a:srgbClr val="1B1B2F"/>
                </a:solidFill>
                <a:latin typeface="Arial" pitchFamily="34" charset="0"/>
                <a:ea typeface="Arial" pitchFamily="34" charset="-122"/>
                <a:cs typeface="Arial" pitchFamily="34" charset="-120"/>
              </a:rPr>
              <a:t>PRACTICE</a:t>
            </a:r>
            <a:endParaRPr lang="en-US" sz="1200" dirty="0"/>
          </a:p>
        </p:txBody>
      </p:sp>
      <p:sp>
        <p:nvSpPr>
          <p:cNvPr id="6" name="Text 4"/>
          <p:cNvSpPr/>
          <p:nvPr/>
        </p:nvSpPr>
        <p:spPr>
          <a:xfrm>
            <a:off x="640080" y="1600200"/>
            <a:ext cx="457200" cy="502920"/>
          </a:xfrm>
          <a:prstGeom prst="rect">
            <a:avLst/>
          </a:prstGeom>
          <a:noFill/>
          <a:ln/>
        </p:spPr>
        <p:txBody>
          <a:bodyPr wrap="square" rtlCol="0" anchor="ctr"/>
          <a:lstStyle/>
          <a:p>
            <a:pPr indent="0" marL="0">
              <a:buNone/>
            </a:pPr>
            <a:r>
              <a:rPr lang="en-US" sz="1600" b="1" dirty="0">
                <a:solidFill>
                  <a:srgbClr val="5FA77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143000" y="1600200"/>
            <a:ext cx="10332720" cy="502920"/>
          </a:xfrm>
          <a:prstGeom prst="rect">
            <a:avLst/>
          </a:prstGeom>
          <a:noFill/>
          <a:ln/>
        </p:spPr>
        <p:txBody>
          <a:bodyPr wrap="square" rtlCol="0" anchor="ctr"/>
          <a:lstStyle/>
          <a:p>
            <a:pPr indent="0" marL="0">
              <a:buNone/>
            </a:pPr>
            <a:r>
              <a:rPr lang="en-US" sz="1450" dirty="0">
                <a:solidFill>
                  <a:srgbClr val="C9D3DE"/>
                </a:solidFill>
                <a:latin typeface="Arial" pitchFamily="34" charset="0"/>
                <a:ea typeface="Arial" pitchFamily="34" charset="-122"/>
                <a:cs typeface="Arial" pitchFamily="34" charset="-120"/>
              </a:rPr>
              <a:t>Run theHarvester against the local Apex Dynamics zone (/etc/hosts entry provided)</a:t>
            </a:r>
            <a:endParaRPr lang="en-US" sz="1450" dirty="0"/>
          </a:p>
        </p:txBody>
      </p:sp>
      <p:sp>
        <p:nvSpPr>
          <p:cNvPr id="8" name="Text 6"/>
          <p:cNvSpPr/>
          <p:nvPr/>
        </p:nvSpPr>
        <p:spPr>
          <a:xfrm>
            <a:off x="640080" y="2167128"/>
            <a:ext cx="457200" cy="502920"/>
          </a:xfrm>
          <a:prstGeom prst="rect">
            <a:avLst/>
          </a:prstGeom>
          <a:noFill/>
          <a:ln/>
        </p:spPr>
        <p:txBody>
          <a:bodyPr wrap="square" rtlCol="0" anchor="ctr"/>
          <a:lstStyle/>
          <a:p>
            <a:pPr indent="0" marL="0">
              <a:buNone/>
            </a:pPr>
            <a:r>
              <a:rPr lang="en-US" sz="1600" b="1" dirty="0">
                <a:solidFill>
                  <a:srgbClr val="5FA777"/>
                </a:solidFill>
                <a:latin typeface="Arial" pitchFamily="34" charset="0"/>
                <a:ea typeface="Arial" pitchFamily="34" charset="-122"/>
                <a:cs typeface="Arial" pitchFamily="34" charset="-120"/>
              </a:rPr>
              <a:t>2.</a:t>
            </a:r>
            <a:endParaRPr lang="en-US" sz="1600" dirty="0"/>
          </a:p>
        </p:txBody>
      </p:sp>
      <p:sp>
        <p:nvSpPr>
          <p:cNvPr id="9" name="Text 7"/>
          <p:cNvSpPr/>
          <p:nvPr/>
        </p:nvSpPr>
        <p:spPr>
          <a:xfrm>
            <a:off x="1143000" y="2167128"/>
            <a:ext cx="10332720" cy="502920"/>
          </a:xfrm>
          <a:prstGeom prst="rect">
            <a:avLst/>
          </a:prstGeom>
          <a:noFill/>
          <a:ln/>
        </p:spPr>
        <p:txBody>
          <a:bodyPr wrap="square" rtlCol="0" anchor="ctr"/>
          <a:lstStyle/>
          <a:p>
            <a:pPr indent="0" marL="0">
              <a:buNone/>
            </a:pPr>
            <a:r>
              <a:rPr lang="en-US" sz="1450" dirty="0">
                <a:solidFill>
                  <a:srgbClr val="C9D3DE"/>
                </a:solidFill>
                <a:latin typeface="Arial" pitchFamily="34" charset="0"/>
                <a:ea typeface="Arial" pitchFamily="34" charset="-122"/>
                <a:cs typeface="Arial" pitchFamily="34" charset="-120"/>
              </a:rPr>
              <a:t>Run SpiderFoot's offline-capable modules against the same target</a:t>
            </a:r>
            <a:endParaRPr lang="en-US" sz="1450" dirty="0"/>
          </a:p>
        </p:txBody>
      </p:sp>
      <p:sp>
        <p:nvSpPr>
          <p:cNvPr id="10" name="Text 8"/>
          <p:cNvSpPr/>
          <p:nvPr/>
        </p:nvSpPr>
        <p:spPr>
          <a:xfrm>
            <a:off x="640080" y="2734056"/>
            <a:ext cx="457200" cy="502920"/>
          </a:xfrm>
          <a:prstGeom prst="rect">
            <a:avLst/>
          </a:prstGeom>
          <a:noFill/>
          <a:ln/>
        </p:spPr>
        <p:txBody>
          <a:bodyPr wrap="square" rtlCol="0" anchor="ctr"/>
          <a:lstStyle/>
          <a:p>
            <a:pPr indent="0" marL="0">
              <a:buNone/>
            </a:pPr>
            <a:r>
              <a:rPr lang="en-US" sz="1600" b="1" dirty="0">
                <a:solidFill>
                  <a:srgbClr val="5FA777"/>
                </a:solidFill>
                <a:latin typeface="Arial" pitchFamily="34" charset="0"/>
                <a:ea typeface="Arial" pitchFamily="34" charset="-122"/>
                <a:cs typeface="Arial" pitchFamily="34" charset="-120"/>
              </a:rPr>
              <a:t>3.</a:t>
            </a:r>
            <a:endParaRPr lang="en-US" sz="1600" dirty="0"/>
          </a:p>
        </p:txBody>
      </p:sp>
      <p:sp>
        <p:nvSpPr>
          <p:cNvPr id="11" name="Text 9"/>
          <p:cNvSpPr/>
          <p:nvPr/>
        </p:nvSpPr>
        <p:spPr>
          <a:xfrm>
            <a:off x="1143000" y="2734056"/>
            <a:ext cx="10332720" cy="502920"/>
          </a:xfrm>
          <a:prstGeom prst="rect">
            <a:avLst/>
          </a:prstGeom>
          <a:noFill/>
          <a:ln/>
        </p:spPr>
        <p:txBody>
          <a:bodyPr wrap="square" rtlCol="0" anchor="ctr"/>
          <a:lstStyle/>
          <a:p>
            <a:pPr indent="0" marL="0">
              <a:buNone/>
            </a:pPr>
            <a:r>
              <a:rPr lang="en-US" sz="1450" dirty="0">
                <a:solidFill>
                  <a:srgbClr val="C9D3DE"/>
                </a:solidFill>
                <a:latin typeface="Arial" pitchFamily="34" charset="0"/>
                <a:ea typeface="Arial" pitchFamily="34" charset="-122"/>
                <a:cs typeface="Arial" pitchFamily="34" charset="-120"/>
              </a:rPr>
              <a:t>Identify 4–5 employees from the staff directory; infer the email-naming convention</a:t>
            </a:r>
            <a:endParaRPr lang="en-US" sz="1450" dirty="0"/>
          </a:p>
        </p:txBody>
      </p:sp>
      <p:sp>
        <p:nvSpPr>
          <p:cNvPr id="12" name="Text 10"/>
          <p:cNvSpPr/>
          <p:nvPr/>
        </p:nvSpPr>
        <p:spPr>
          <a:xfrm>
            <a:off x="640080" y="3300984"/>
            <a:ext cx="457200" cy="502920"/>
          </a:xfrm>
          <a:prstGeom prst="rect">
            <a:avLst/>
          </a:prstGeom>
          <a:noFill/>
          <a:ln/>
        </p:spPr>
        <p:txBody>
          <a:bodyPr wrap="square" rtlCol="0" anchor="ctr"/>
          <a:lstStyle/>
          <a:p>
            <a:pPr indent="0" marL="0">
              <a:buNone/>
            </a:pPr>
            <a:r>
              <a:rPr lang="en-US" sz="1600" b="1" dirty="0">
                <a:solidFill>
                  <a:srgbClr val="5FA777"/>
                </a:solidFill>
                <a:latin typeface="Arial" pitchFamily="34" charset="0"/>
                <a:ea typeface="Arial" pitchFamily="34" charset="-122"/>
                <a:cs typeface="Arial" pitchFamily="34" charset="-120"/>
              </a:rPr>
              <a:t>4.</a:t>
            </a:r>
            <a:endParaRPr lang="en-US" sz="1600" dirty="0"/>
          </a:p>
        </p:txBody>
      </p:sp>
      <p:sp>
        <p:nvSpPr>
          <p:cNvPr id="13" name="Text 11"/>
          <p:cNvSpPr/>
          <p:nvPr/>
        </p:nvSpPr>
        <p:spPr>
          <a:xfrm>
            <a:off x="1143000" y="3300984"/>
            <a:ext cx="10332720" cy="502920"/>
          </a:xfrm>
          <a:prstGeom prst="rect">
            <a:avLst/>
          </a:prstGeom>
          <a:noFill/>
          <a:ln/>
        </p:spPr>
        <p:txBody>
          <a:bodyPr wrap="square" rtlCol="0" anchor="ctr"/>
          <a:lstStyle/>
          <a:p>
            <a:pPr indent="0" marL="0">
              <a:buNone/>
            </a:pPr>
            <a:r>
              <a:rPr lang="en-US" sz="1450" dirty="0">
                <a:solidFill>
                  <a:srgbClr val="C9D3DE"/>
                </a:solidFill>
                <a:latin typeface="Arial" pitchFamily="34" charset="0"/>
                <a:ea typeface="Arial" pitchFamily="34" charset="-122"/>
                <a:cs typeface="Arial" pitchFamily="34" charset="-120"/>
              </a:rPr>
              <a:t>Run ExifTool against 1–2 seeded documents/images — extract embedded metadata</a:t>
            </a:r>
            <a:endParaRPr lang="en-US" sz="1450" dirty="0"/>
          </a:p>
        </p:txBody>
      </p:sp>
      <p:sp>
        <p:nvSpPr>
          <p:cNvPr id="14" name="Text 12"/>
          <p:cNvSpPr/>
          <p:nvPr/>
        </p:nvSpPr>
        <p:spPr>
          <a:xfrm>
            <a:off x="640080" y="3867912"/>
            <a:ext cx="457200" cy="502920"/>
          </a:xfrm>
          <a:prstGeom prst="rect">
            <a:avLst/>
          </a:prstGeom>
          <a:noFill/>
          <a:ln/>
        </p:spPr>
        <p:txBody>
          <a:bodyPr wrap="square" rtlCol="0" anchor="ctr"/>
          <a:lstStyle/>
          <a:p>
            <a:pPr indent="0" marL="0">
              <a:buNone/>
            </a:pPr>
            <a:r>
              <a:rPr lang="en-US" sz="1600" b="1" dirty="0">
                <a:solidFill>
                  <a:srgbClr val="5FA777"/>
                </a:solidFill>
                <a:latin typeface="Arial" pitchFamily="34" charset="0"/>
                <a:ea typeface="Arial" pitchFamily="34" charset="-122"/>
                <a:cs typeface="Arial" pitchFamily="34" charset="-120"/>
              </a:rPr>
              <a:t>5.</a:t>
            </a:r>
            <a:endParaRPr lang="en-US" sz="1600" dirty="0"/>
          </a:p>
        </p:txBody>
      </p:sp>
      <p:sp>
        <p:nvSpPr>
          <p:cNvPr id="15" name="Text 13"/>
          <p:cNvSpPr/>
          <p:nvPr/>
        </p:nvSpPr>
        <p:spPr>
          <a:xfrm>
            <a:off x="1143000" y="3867912"/>
            <a:ext cx="10332720" cy="502920"/>
          </a:xfrm>
          <a:prstGeom prst="rect">
            <a:avLst/>
          </a:prstGeom>
          <a:noFill/>
          <a:ln/>
        </p:spPr>
        <p:txBody>
          <a:bodyPr wrap="square" rtlCol="0" anchor="ctr"/>
          <a:lstStyle/>
          <a:p>
            <a:pPr indent="0" marL="0">
              <a:buNone/>
            </a:pPr>
            <a:r>
              <a:rPr lang="en-US" sz="1450" dirty="0">
                <a:solidFill>
                  <a:srgbClr val="C9D3DE"/>
                </a:solidFill>
                <a:latin typeface="Arial" pitchFamily="34" charset="0"/>
                <a:ea typeface="Arial" pitchFamily="34" charset="-122"/>
                <a:cs typeface="Arial" pitchFamily="34" charset="-120"/>
              </a:rPr>
              <a:t>Cross-reference findings against the mock social profiles and dummy breach CSV</a:t>
            </a:r>
            <a:endParaRPr lang="en-US" sz="1450" dirty="0"/>
          </a:p>
        </p:txBody>
      </p:sp>
      <p:sp>
        <p:nvSpPr>
          <p:cNvPr id="16" name="Text 14"/>
          <p:cNvSpPr/>
          <p:nvPr/>
        </p:nvSpPr>
        <p:spPr>
          <a:xfrm>
            <a:off x="640080" y="4434840"/>
            <a:ext cx="457200" cy="502920"/>
          </a:xfrm>
          <a:prstGeom prst="rect">
            <a:avLst/>
          </a:prstGeom>
          <a:noFill/>
          <a:ln/>
        </p:spPr>
        <p:txBody>
          <a:bodyPr wrap="square" rtlCol="0" anchor="ctr"/>
          <a:lstStyle/>
          <a:p>
            <a:pPr indent="0" marL="0">
              <a:buNone/>
            </a:pPr>
            <a:r>
              <a:rPr lang="en-US" sz="1600" b="1" dirty="0">
                <a:solidFill>
                  <a:srgbClr val="5FA777"/>
                </a:solidFill>
                <a:latin typeface="Arial" pitchFamily="34" charset="0"/>
                <a:ea typeface="Arial" pitchFamily="34" charset="-122"/>
                <a:cs typeface="Arial" pitchFamily="34" charset="-120"/>
              </a:rPr>
              <a:t>6.</a:t>
            </a:r>
            <a:endParaRPr lang="en-US" sz="1600" dirty="0"/>
          </a:p>
        </p:txBody>
      </p:sp>
      <p:sp>
        <p:nvSpPr>
          <p:cNvPr id="17" name="Text 15"/>
          <p:cNvSpPr/>
          <p:nvPr/>
        </p:nvSpPr>
        <p:spPr>
          <a:xfrm>
            <a:off x="1143000" y="4434840"/>
            <a:ext cx="10332720" cy="502920"/>
          </a:xfrm>
          <a:prstGeom prst="rect">
            <a:avLst/>
          </a:prstGeom>
          <a:noFill/>
          <a:ln/>
        </p:spPr>
        <p:txBody>
          <a:bodyPr wrap="square" rtlCol="0" anchor="ctr"/>
          <a:lstStyle/>
          <a:p>
            <a:pPr indent="0" marL="0">
              <a:buNone/>
            </a:pPr>
            <a:r>
              <a:rPr lang="en-US" sz="1450" dirty="0">
                <a:solidFill>
                  <a:srgbClr val="C9D3DE"/>
                </a:solidFill>
                <a:latin typeface="Arial" pitchFamily="34" charset="0"/>
                <a:ea typeface="Arial" pitchFamily="34" charset="-122"/>
                <a:cs typeface="Arial" pitchFamily="34" charset="-120"/>
              </a:rPr>
              <a:t>Produce a one-page dossier: names, inferred emails, one verified metadata finding</a:t>
            </a:r>
            <a:endParaRPr lang="en-US" sz="1450" dirty="0"/>
          </a:p>
        </p:txBody>
      </p:sp>
      <p:sp>
        <p:nvSpPr>
          <p:cNvPr id="18" name="Shape 16"/>
          <p:cNvSpPr/>
          <p:nvPr/>
        </p:nvSpPr>
        <p:spPr>
          <a:xfrm>
            <a:off x="548640" y="5669280"/>
            <a:ext cx="11064240" cy="621792"/>
          </a:xfrm>
          <a:prstGeom prst="rect">
            <a:avLst/>
          </a:prstGeom>
          <a:solidFill>
            <a:srgbClr val="0F2A45"/>
          </a:solidFill>
          <a:ln/>
        </p:spPr>
      </p:sp>
      <p:sp>
        <p:nvSpPr>
          <p:cNvPr id="19" name="Text 17"/>
          <p:cNvSpPr/>
          <p:nvPr/>
        </p:nvSpPr>
        <p:spPr>
          <a:xfrm>
            <a:off x="777240" y="5669280"/>
            <a:ext cx="10607040" cy="621792"/>
          </a:xfrm>
          <a:prstGeom prst="rect">
            <a:avLst/>
          </a:prstGeom>
          <a:noFill/>
          <a:ln/>
        </p:spPr>
        <p:txBody>
          <a:bodyPr wrap="square" rtlCol="0" anchor="ctr"/>
          <a:lstStyle/>
          <a:p>
            <a:pPr indent="0" marL="0">
              <a:buNone/>
            </a:pPr>
            <a:r>
              <a:rPr lang="en-US" sz="1200" i="1" dirty="0">
                <a:solidFill>
                  <a:srgbClr val="E8A33D"/>
                </a:solidFill>
                <a:latin typeface="Consolas" pitchFamily="34" charset="0"/>
                <a:ea typeface="Consolas" pitchFamily="34" charset="-122"/>
                <a:cs typeface="Consolas" pitchFamily="34" charset="-120"/>
              </a:rPr>
              <a:t>Target: apex-dynamics.internal (Ubuntu VM)  ·  Work individually — 25 trainees, one shared target, staggered start</a:t>
            </a:r>
            <a:endParaRPr lang="en-US" sz="1200" dirty="0"/>
          </a:p>
        </p:txBody>
      </p:sp>
      <p:sp>
        <p:nvSpPr>
          <p:cNvPr id="20" name="Shape 18"/>
          <p:cNvSpPr/>
          <p:nvPr/>
        </p:nvSpPr>
        <p:spPr>
          <a:xfrm>
            <a:off x="0" y="6473952"/>
            <a:ext cx="12161520" cy="384048"/>
          </a:xfrm>
          <a:prstGeom prst="rect">
            <a:avLst/>
          </a:prstGeom>
          <a:solidFill>
            <a:srgbClr val="2E2148"/>
          </a:solidFill>
          <a:ln/>
        </p:spPr>
      </p:sp>
      <p:sp>
        <p:nvSpPr>
          <p:cNvPr id="21" name="Text 19"/>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81420"/>
        </a:solidFill>
      </p:bgPr>
    </p:bg>
    <p:spTree>
      <p:nvGrpSpPr>
        <p:cNvPr id="1" name=""/>
        <p:cNvGrpSpPr/>
        <p:nvPr/>
      </p:nvGrpSpPr>
      <p:grpSpPr>
        <a:xfrm>
          <a:off x="0" y="0"/>
          <a:ext cx="0" cy="0"/>
          <a:chOff x="0" y="0"/>
          <a:chExt cx="0" cy="0"/>
        </a:xfrm>
      </p:grpSpPr>
      <p:sp>
        <p:nvSpPr>
          <p:cNvPr id="2" name="Shape 0"/>
          <p:cNvSpPr/>
          <p:nvPr/>
        </p:nvSpPr>
        <p:spPr>
          <a:xfrm>
            <a:off x="1280160" y="1737360"/>
            <a:ext cx="9601200" cy="3108960"/>
          </a:xfrm>
          <a:prstGeom prst="roundRect">
            <a:avLst>
              <a:gd name="adj" fmla="val 2353"/>
            </a:avLst>
          </a:prstGeom>
          <a:solidFill>
            <a:srgbClr val="0F2A45"/>
          </a:solidFill>
          <a:ln/>
        </p:spPr>
      </p:sp>
      <p:sp>
        <p:nvSpPr>
          <p:cNvPr id="3" name="Text 1"/>
          <p:cNvSpPr/>
          <p:nvPr/>
        </p:nvSpPr>
        <p:spPr>
          <a:xfrm>
            <a:off x="1554480" y="2011680"/>
            <a:ext cx="4572000" cy="365760"/>
          </a:xfrm>
          <a:prstGeom prst="rect">
            <a:avLst/>
          </a:prstGeom>
          <a:noFill/>
          <a:ln/>
        </p:spPr>
        <p:txBody>
          <a:bodyPr wrap="square" rtlCol="0" anchor="ctr"/>
          <a:lstStyle/>
          <a:p>
            <a:pPr indent="0" marL="0">
              <a:buNone/>
            </a:pPr>
            <a:r>
              <a:rPr lang="en-US" sz="1300" b="1" spc="200" kern="0" dirty="0">
                <a:solidFill>
                  <a:srgbClr val="E8A33D"/>
                </a:solidFill>
                <a:latin typeface="Arial" pitchFamily="34" charset="0"/>
                <a:ea typeface="Arial" pitchFamily="34" charset="-122"/>
                <a:cs typeface="Arial" pitchFamily="34" charset="-120"/>
              </a:rPr>
              <a:t>DECISION DILEMMA</a:t>
            </a:r>
            <a:endParaRPr lang="en-US" sz="1300" dirty="0"/>
          </a:p>
        </p:txBody>
      </p:sp>
      <p:sp>
        <p:nvSpPr>
          <p:cNvPr id="4" name="Text 2"/>
          <p:cNvSpPr/>
          <p:nvPr/>
        </p:nvSpPr>
        <p:spPr>
          <a:xfrm>
            <a:off x="1554480" y="2514600"/>
            <a:ext cx="9052560" cy="2103120"/>
          </a:xfrm>
          <a:prstGeom prst="rect">
            <a:avLst/>
          </a:prstGeom>
          <a:noFill/>
          <a:ln/>
        </p:spPr>
        <p:txBody>
          <a:bodyPr wrap="square" rtlCol="0" anchor="t"/>
          <a:lstStyle/>
          <a:p>
            <a:pPr indent="0" marL="0">
              <a:lnSpc>
                <a:spcPct val="130000"/>
              </a:lnSpc>
              <a:buNone/>
            </a:pPr>
            <a:r>
              <a:rPr lang="en-US" sz="1800" dirty="0">
                <a:solidFill>
                  <a:srgbClr val="FFFFFF"/>
                </a:solidFill>
                <a:latin typeface="Arial" pitchFamily="34" charset="0"/>
                <a:ea typeface="Arial" pitchFamily="34" charset="-122"/>
                <a:cs typeface="Arial" pitchFamily="34" charset="-120"/>
              </a:rPr>
              <a:t>As an officer supervising an OSINT team, you're asked to profile a mediator nation's minister ahead of sensitive talks. Sources are all public — but the request itself is politically loaded.</a:t>
            </a:r>
            <a:endParaRPr lang="en-US" sz="1800" dirty="0"/>
          </a:p>
          <a:p>
            <a:pPr indent="0" marL="0">
              <a:lnSpc>
                <a:spcPct val="130000"/>
              </a:lnSpc>
              <a:buNone/>
            </a:pPr>
            <a:endParaRPr lang="en-US" sz="1800" dirty="0"/>
          </a:p>
          <a:p>
            <a:pPr indent="0" marL="0">
              <a:lnSpc>
                <a:spcPct val="130000"/>
              </a:lnSpc>
              <a:buNone/>
            </a:pPr>
            <a:r>
              <a:rPr lang="en-US" sz="1800" dirty="0">
                <a:solidFill>
                  <a:srgbClr val="FFFFFF"/>
                </a:solidFill>
                <a:latin typeface="Arial" pitchFamily="34" charset="0"/>
                <a:ea typeface="Arial" pitchFamily="34" charset="-122"/>
                <a:cs typeface="Arial" pitchFamily="34" charset="-120"/>
              </a:rPr>
              <a:t>What's your one-line authorisation policy before tasking begins?</a:t>
            </a:r>
            <a:endParaRPr lang="en-US" sz="1800" dirty="0"/>
          </a:p>
        </p:txBody>
      </p:sp>
      <p:sp>
        <p:nvSpPr>
          <p:cNvPr id="5" name="Shape 3"/>
          <p:cNvSpPr/>
          <p:nvPr/>
        </p:nvSpPr>
        <p:spPr>
          <a:xfrm>
            <a:off x="0" y="6473952"/>
            <a:ext cx="12161520" cy="384048"/>
          </a:xfrm>
          <a:prstGeom prst="rect">
            <a:avLst/>
          </a:prstGeom>
          <a:solidFill>
            <a:srgbClr val="2E2148"/>
          </a:solidFill>
          <a:ln/>
        </p:spPr>
      </p:sp>
      <p:sp>
        <p:nvSpPr>
          <p:cNvPr id="6" name="Text 4"/>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929"/>
        </a:solidFill>
      </p:bgPr>
    </p:bg>
    <p:spTree>
      <p:nvGrpSpPr>
        <p:cNvPr id="1" name=""/>
        <p:cNvGrpSpPr/>
        <p:nvPr/>
      </p:nvGrpSpPr>
      <p:grpSpPr>
        <a:xfrm>
          <a:off x="0" y="0"/>
          <a:ext cx="0" cy="0"/>
          <a:chOff x="0" y="0"/>
          <a:chExt cx="0" cy="0"/>
        </a:xfrm>
      </p:grpSpPr>
      <p:sp>
        <p:nvSpPr>
          <p:cNvPr id="2" name="Text 0"/>
          <p:cNvSpPr/>
          <p:nvPr/>
        </p:nvSpPr>
        <p:spPr>
          <a:xfrm>
            <a:off x="640080" y="1280160"/>
            <a:ext cx="5486400" cy="365760"/>
          </a:xfrm>
          <a:prstGeom prst="rect">
            <a:avLst/>
          </a:prstGeom>
          <a:noFill/>
          <a:ln/>
        </p:spPr>
        <p:txBody>
          <a:bodyPr wrap="square" rtlCol="0" anchor="ctr"/>
          <a:lstStyle/>
          <a:p>
            <a:pPr indent="0" marL="0">
              <a:buNone/>
            </a:pPr>
            <a:r>
              <a:rPr lang="en-US" sz="1300" b="1" spc="200" kern="0" dirty="0">
                <a:solidFill>
                  <a:srgbClr val="E8A33D"/>
                </a:solidFill>
                <a:latin typeface="Arial" pitchFamily="34" charset="0"/>
                <a:ea typeface="Arial" pitchFamily="34" charset="-122"/>
                <a:cs typeface="Arial" pitchFamily="34" charset="-120"/>
              </a:rPr>
              <a:t>DEBRIEF</a:t>
            </a:r>
            <a:endParaRPr lang="en-US" sz="1300" dirty="0"/>
          </a:p>
        </p:txBody>
      </p:sp>
      <p:sp>
        <p:nvSpPr>
          <p:cNvPr id="3" name="Text 1"/>
          <p:cNvSpPr/>
          <p:nvPr/>
        </p:nvSpPr>
        <p:spPr>
          <a:xfrm>
            <a:off x="640080" y="1691640"/>
            <a:ext cx="10515600" cy="82296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Same target. Different dossiers.</a:t>
            </a:r>
            <a:endParaRPr lang="en-US" sz="3200" dirty="0"/>
          </a:p>
        </p:txBody>
      </p:sp>
      <p:sp>
        <p:nvSpPr>
          <p:cNvPr id="4" name="Text 2"/>
          <p:cNvSpPr/>
          <p:nvPr/>
        </p:nvSpPr>
        <p:spPr>
          <a:xfrm>
            <a:off x="640080" y="2834640"/>
            <a:ext cx="10515600" cy="548640"/>
          </a:xfrm>
          <a:prstGeom prst="rect">
            <a:avLst/>
          </a:prstGeom>
          <a:noFill/>
          <a:ln/>
        </p:spPr>
        <p:txBody>
          <a:bodyPr wrap="square" rtlCol="0" anchor="ctr"/>
          <a:lstStyle/>
          <a:p>
            <a:pPr indent="0" marL="0">
              <a:buNone/>
            </a:pPr>
            <a:r>
              <a:rPr lang="en-US" sz="1600" b="1" dirty="0">
                <a:solidFill>
                  <a:srgbClr val="E8A33D"/>
                </a:solidFill>
                <a:latin typeface="Arial" pitchFamily="34" charset="0"/>
                <a:ea typeface="Arial" pitchFamily="34" charset="-122"/>
                <a:cs typeface="Arial" pitchFamily="34" charset="-120"/>
              </a:rPr>
              <a:t>‣  </a:t>
            </a:r>
            <a:pPr indent="0" marL="0">
              <a:buNone/>
            </a:pPr>
            <a:r>
              <a:rPr lang="en-US" sz="1600" dirty="0">
                <a:solidFill>
                  <a:srgbClr val="C9D3DE"/>
                </a:solidFill>
                <a:latin typeface="Arial" pitchFamily="34" charset="0"/>
                <a:ea typeface="Arial" pitchFamily="34" charset="-122"/>
                <a:cs typeface="Arial" pitchFamily="34" charset="-120"/>
              </a:rPr>
              <a:t>Where did your findings converge — and where did they diverge?</a:t>
            </a:r>
            <a:endParaRPr lang="en-US" sz="1600" dirty="0"/>
          </a:p>
        </p:txBody>
      </p:sp>
      <p:sp>
        <p:nvSpPr>
          <p:cNvPr id="5" name="Text 3"/>
          <p:cNvSpPr/>
          <p:nvPr/>
        </p:nvSpPr>
        <p:spPr>
          <a:xfrm>
            <a:off x="640080" y="3520440"/>
            <a:ext cx="10515600" cy="548640"/>
          </a:xfrm>
          <a:prstGeom prst="rect">
            <a:avLst/>
          </a:prstGeom>
          <a:noFill/>
          <a:ln/>
        </p:spPr>
        <p:txBody>
          <a:bodyPr wrap="square" rtlCol="0" anchor="ctr"/>
          <a:lstStyle/>
          <a:p>
            <a:pPr indent="0" marL="0">
              <a:buNone/>
            </a:pPr>
            <a:r>
              <a:rPr lang="en-US" sz="1600" b="1" dirty="0">
                <a:solidFill>
                  <a:srgbClr val="E8A33D"/>
                </a:solidFill>
                <a:latin typeface="Arial" pitchFamily="34" charset="0"/>
                <a:ea typeface="Arial" pitchFamily="34" charset="-122"/>
                <a:cs typeface="Arial" pitchFamily="34" charset="-120"/>
              </a:rPr>
              <a:t>‣  </a:t>
            </a:r>
            <a:pPr indent="0" marL="0">
              <a:buNone/>
            </a:pPr>
            <a:r>
              <a:rPr lang="en-US" sz="1600" dirty="0">
                <a:solidFill>
                  <a:srgbClr val="C9D3DE"/>
                </a:solidFill>
                <a:latin typeface="Arial" pitchFamily="34" charset="0"/>
                <a:ea typeface="Arial" pitchFamily="34" charset="-122"/>
                <a:cs typeface="Arial" pitchFamily="34" charset="-120"/>
              </a:rPr>
              <a:t>What did Apex Dynamics leak that a real organisation leaks too, every day, without noticing?</a:t>
            </a:r>
            <a:endParaRPr lang="en-US" sz="1600" dirty="0"/>
          </a:p>
        </p:txBody>
      </p:sp>
      <p:sp>
        <p:nvSpPr>
          <p:cNvPr id="6" name="Text 4"/>
          <p:cNvSpPr/>
          <p:nvPr/>
        </p:nvSpPr>
        <p:spPr>
          <a:xfrm>
            <a:off x="640080" y="4206240"/>
            <a:ext cx="10515600" cy="548640"/>
          </a:xfrm>
          <a:prstGeom prst="rect">
            <a:avLst/>
          </a:prstGeom>
          <a:noFill/>
          <a:ln/>
        </p:spPr>
        <p:txBody>
          <a:bodyPr wrap="square" rtlCol="0" anchor="ctr"/>
          <a:lstStyle/>
          <a:p>
            <a:pPr indent="0" marL="0">
              <a:buNone/>
            </a:pPr>
            <a:r>
              <a:rPr lang="en-US" sz="1600" b="1" dirty="0">
                <a:solidFill>
                  <a:srgbClr val="E8A33D"/>
                </a:solidFill>
                <a:latin typeface="Arial" pitchFamily="34" charset="0"/>
                <a:ea typeface="Arial" pitchFamily="34" charset="-122"/>
                <a:cs typeface="Arial" pitchFamily="34" charset="-120"/>
              </a:rPr>
              <a:t>‣  </a:t>
            </a:r>
            <a:pPr indent="0" marL="0">
              <a:buNone/>
            </a:pPr>
            <a:r>
              <a:rPr lang="en-US" sz="1600" dirty="0">
                <a:solidFill>
                  <a:srgbClr val="C9D3DE"/>
                </a:solidFill>
                <a:latin typeface="Arial" pitchFamily="34" charset="0"/>
                <a:ea typeface="Arial" pitchFamily="34" charset="-122"/>
                <a:cs typeface="Arial" pitchFamily="34" charset="-120"/>
              </a:rPr>
              <a:t>The dossier you built is exactly what IW/HAK/15.4 (Gaining Access) picks up next.</a:t>
            </a:r>
            <a:endParaRPr lang="en-US" sz="1600" dirty="0"/>
          </a:p>
        </p:txBody>
      </p:sp>
      <p:sp>
        <p:nvSpPr>
          <p:cNvPr id="7" name="Shape 5"/>
          <p:cNvSpPr/>
          <p:nvPr/>
        </p:nvSpPr>
        <p:spPr>
          <a:xfrm>
            <a:off x="0" y="6473952"/>
            <a:ext cx="12161520" cy="384048"/>
          </a:xfrm>
          <a:prstGeom prst="rect">
            <a:avLst/>
          </a:prstGeom>
          <a:solidFill>
            <a:srgbClr val="2E2148"/>
          </a:solidFill>
          <a:ln/>
        </p:spPr>
      </p:sp>
      <p:sp>
        <p:nvSpPr>
          <p:cNvPr id="8" name="Text 6"/>
          <p:cNvSpPr/>
          <p:nvPr/>
        </p:nvSpPr>
        <p:spPr>
          <a:xfrm>
            <a:off x="0" y="6473952"/>
            <a:ext cx="12161520" cy="384048"/>
          </a:xfrm>
          <a:prstGeom prst="rect">
            <a:avLst/>
          </a:prstGeom>
          <a:noFill/>
          <a:ln/>
        </p:spPr>
        <p:txBody>
          <a:bodyPr wrap="square"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JOINT SERVICES TRAINING INSTITUTE - CYBER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2026-08-06T07:34:39Z</dcterms:created>
  <dcterms:modified xsi:type="dcterms:W3CDTF">2026-08-06T07:34:39Z</dcterms:modified>
</cp:coreProperties>
</file>